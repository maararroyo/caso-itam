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4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71" r:id="rId6"/>
    <p:sldId id="272" r:id="rId7"/>
    <p:sldId id="273" r:id="rId8"/>
    <p:sldId id="260" r:id="rId9"/>
    <p:sldId id="274" r:id="rId10"/>
    <p:sldId id="275" r:id="rId11"/>
    <p:sldId id="276" r:id="rId12"/>
    <p:sldId id="261" r:id="rId13"/>
    <p:sldId id="277" r:id="rId14"/>
    <p:sldId id="278" r:id="rId15"/>
    <p:sldId id="279" r:id="rId16"/>
    <p:sldId id="280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-87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Arroyo Muñoz" userId="2030ded4723f0177" providerId="LiveId" clId="{57C6F976-713F-4CF4-A134-5D576EC458D0}"/>
    <pc:docChg chg="custSel addSld modSld">
      <pc:chgData name="Mariana Arroyo Muñoz" userId="2030ded4723f0177" providerId="LiveId" clId="{57C6F976-713F-4CF4-A134-5D576EC458D0}" dt="2026-10-14T21:52:56.770" v="34" actId="113"/>
      <pc:docMkLst>
        <pc:docMk/>
      </pc:docMkLst>
      <pc:sldChg chg="delSp modSp mod">
        <pc:chgData name="Mariana Arroyo Muñoz" userId="2030ded4723f0177" providerId="LiveId" clId="{57C6F976-713F-4CF4-A134-5D576EC458D0}" dt="2026-10-14T21:44:58.618" v="8" actId="478"/>
        <pc:sldMkLst>
          <pc:docMk/>
          <pc:sldMk cId="0" sldId="259"/>
        </pc:sldMkLst>
        <pc:spChg chg="del mod">
          <ac:chgData name="Mariana Arroyo Muñoz" userId="2030ded4723f0177" providerId="LiveId" clId="{57C6F976-713F-4CF4-A134-5D576EC458D0}" dt="2026-10-14T21:43:23.660" v="4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3:18.931" v="2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3:18.931" v="2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3:18.931" v="2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3:18.931" v="2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3:18.931" v="2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3:18.931" v="2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3:18.931" v="2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3:18.931" v="2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3:18.931" v="2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4:58.618" v="8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4:58.618" v="8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4:58.618" v="8" actId="478"/>
          <ac:spMkLst>
            <pc:docMk/>
            <pc:sldMk cId="0" sldId="259"/>
            <ac:spMk id="22" creationId="{00000000-0000-0000-0000-000000000000}"/>
          </ac:spMkLst>
        </pc:spChg>
      </pc:sldChg>
      <pc:sldChg chg="delSp mod">
        <pc:chgData name="Mariana Arroyo Muñoz" userId="2030ded4723f0177" providerId="LiveId" clId="{57C6F976-713F-4CF4-A134-5D576EC458D0}" dt="2026-10-14T21:46:34.499" v="15" actId="478"/>
        <pc:sldMkLst>
          <pc:docMk/>
          <pc:sldMk cId="0" sldId="260"/>
        </pc:sldMkLst>
        <pc:spChg chg="del">
          <ac:chgData name="Mariana Arroyo Muñoz" userId="2030ded4723f0177" providerId="LiveId" clId="{57C6F976-713F-4CF4-A134-5D576EC458D0}" dt="2026-10-14T21:46:30.213" v="14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6:30.213" v="14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6:30.213" v="14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6:30.213" v="14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6:30.213" v="14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6:30.213" v="14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6:30.213" v="14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6:30.213" v="14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6:34.499" v="15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6:34.499" v="15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46:34.499" v="15" actId="478"/>
          <ac:spMkLst>
            <pc:docMk/>
            <pc:sldMk cId="0" sldId="260"/>
            <ac:spMk id="20" creationId="{00000000-0000-0000-0000-000000000000}"/>
          </ac:spMkLst>
        </pc:spChg>
      </pc:sldChg>
      <pc:sldChg chg="delSp mod">
        <pc:chgData name="Mariana Arroyo Muñoz" userId="2030ded4723f0177" providerId="LiveId" clId="{57C6F976-713F-4CF4-A134-5D576EC458D0}" dt="2026-10-14T21:50:31.411" v="26" actId="478"/>
        <pc:sldMkLst>
          <pc:docMk/>
          <pc:sldMk cId="0" sldId="261"/>
        </pc:sldMkLst>
        <pc:spChg chg="del">
          <ac:chgData name="Mariana Arroyo Muñoz" userId="2030ded4723f0177" providerId="LiveId" clId="{57C6F976-713F-4CF4-A134-5D576EC458D0}" dt="2026-10-14T21:50:31.411" v="26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50:29.148" v="25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50:29.148" v="25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50:29.148" v="25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50:29.148" v="25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50:29.148" v="25" actId="478"/>
          <ac:spMkLst>
            <pc:docMk/>
            <pc:sldMk cId="0" sldId="261"/>
            <ac:spMk id="14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50:29.148" v="25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50:29.148" v="25" actId="478"/>
          <ac:spMkLst>
            <pc:docMk/>
            <pc:sldMk cId="0" sldId="261"/>
            <ac:spMk id="16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50:29.148" v="25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50:23.946" v="24" actId="478"/>
          <ac:spMkLst>
            <pc:docMk/>
            <pc:sldMk cId="0" sldId="261"/>
            <ac:spMk id="18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50:23.946" v="24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50:23.946" v="24" actId="478"/>
          <ac:spMkLst>
            <pc:docMk/>
            <pc:sldMk cId="0" sldId="261"/>
            <ac:spMk id="20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50:29.148" v="25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Mariana Arroyo Muñoz" userId="2030ded4723f0177" providerId="LiveId" clId="{57C6F976-713F-4CF4-A134-5D576EC458D0}" dt="2026-10-14T21:50:29.148" v="25" actId="478"/>
          <ac:spMkLst>
            <pc:docMk/>
            <pc:sldMk cId="0" sldId="261"/>
            <ac:spMk id="22" creationId="{00000000-0000-0000-0000-000000000000}"/>
          </ac:spMkLst>
        </pc:spChg>
      </pc:sldChg>
      <pc:sldChg chg="delSp add mod">
        <pc:chgData name="Mariana Arroyo Muñoz" userId="2030ded4723f0177" providerId="LiveId" clId="{57C6F976-713F-4CF4-A134-5D576EC458D0}" dt="2026-10-14T21:45:03.393" v="9" actId="478"/>
        <pc:sldMkLst>
          <pc:docMk/>
          <pc:sldMk cId="1341215553" sldId="271"/>
        </pc:sldMkLst>
        <pc:spChg chg="del">
          <ac:chgData name="Mariana Arroyo Muñoz" userId="2030ded4723f0177" providerId="LiveId" clId="{57C6F976-713F-4CF4-A134-5D576EC458D0}" dt="2026-10-14T21:43:42.197" v="7" actId="478"/>
          <ac:spMkLst>
            <pc:docMk/>
            <pc:sldMk cId="1341215553" sldId="271"/>
            <ac:spMk id="15" creationId="{EBFAD5EE-B8E0-AE04-E13F-D7C93E6CEA03}"/>
          </ac:spMkLst>
        </pc:spChg>
        <pc:spChg chg="del">
          <ac:chgData name="Mariana Arroyo Muñoz" userId="2030ded4723f0177" providerId="LiveId" clId="{57C6F976-713F-4CF4-A134-5D576EC458D0}" dt="2026-10-14T21:43:33.904" v="6" actId="478"/>
          <ac:spMkLst>
            <pc:docMk/>
            <pc:sldMk cId="1341215553" sldId="271"/>
            <ac:spMk id="16" creationId="{3DEFAE5C-08F8-2169-3BBB-35F87AEECAF1}"/>
          </ac:spMkLst>
        </pc:spChg>
        <pc:spChg chg="del">
          <ac:chgData name="Mariana Arroyo Muñoz" userId="2030ded4723f0177" providerId="LiveId" clId="{57C6F976-713F-4CF4-A134-5D576EC458D0}" dt="2026-10-14T21:43:33.904" v="6" actId="478"/>
          <ac:spMkLst>
            <pc:docMk/>
            <pc:sldMk cId="1341215553" sldId="271"/>
            <ac:spMk id="17" creationId="{CFAC57A4-0B56-2833-0C53-4112F451A60C}"/>
          </ac:spMkLst>
        </pc:spChg>
        <pc:spChg chg="del">
          <ac:chgData name="Mariana Arroyo Muñoz" userId="2030ded4723f0177" providerId="LiveId" clId="{57C6F976-713F-4CF4-A134-5D576EC458D0}" dt="2026-10-14T21:43:29.030" v="5" actId="478"/>
          <ac:spMkLst>
            <pc:docMk/>
            <pc:sldMk cId="1341215553" sldId="271"/>
            <ac:spMk id="18" creationId="{BEC34A8B-220D-8618-09C3-1AEEF2A1556D}"/>
          </ac:spMkLst>
        </pc:spChg>
        <pc:spChg chg="del">
          <ac:chgData name="Mariana Arroyo Muñoz" userId="2030ded4723f0177" providerId="LiveId" clId="{57C6F976-713F-4CF4-A134-5D576EC458D0}" dt="2026-10-14T21:43:29.030" v="5" actId="478"/>
          <ac:spMkLst>
            <pc:docMk/>
            <pc:sldMk cId="1341215553" sldId="271"/>
            <ac:spMk id="19" creationId="{8851DCB6-31B8-ACBB-A3D5-3F4946F153F8}"/>
          </ac:spMkLst>
        </pc:spChg>
        <pc:spChg chg="del">
          <ac:chgData name="Mariana Arroyo Muñoz" userId="2030ded4723f0177" providerId="LiveId" clId="{57C6F976-713F-4CF4-A134-5D576EC458D0}" dt="2026-10-14T21:45:03.393" v="9" actId="478"/>
          <ac:spMkLst>
            <pc:docMk/>
            <pc:sldMk cId="1341215553" sldId="271"/>
            <ac:spMk id="20" creationId="{5F7A56F0-076E-1988-E87F-64AC5EFD0BFA}"/>
          </ac:spMkLst>
        </pc:spChg>
        <pc:spChg chg="del">
          <ac:chgData name="Mariana Arroyo Muñoz" userId="2030ded4723f0177" providerId="LiveId" clId="{57C6F976-713F-4CF4-A134-5D576EC458D0}" dt="2026-10-14T21:45:03.393" v="9" actId="478"/>
          <ac:spMkLst>
            <pc:docMk/>
            <pc:sldMk cId="1341215553" sldId="271"/>
            <ac:spMk id="21" creationId="{B423615F-1B33-054E-A462-AC96A3DB8FA2}"/>
          </ac:spMkLst>
        </pc:spChg>
        <pc:spChg chg="del">
          <ac:chgData name="Mariana Arroyo Muñoz" userId="2030ded4723f0177" providerId="LiveId" clId="{57C6F976-713F-4CF4-A134-5D576EC458D0}" dt="2026-10-14T21:45:03.393" v="9" actId="478"/>
          <ac:spMkLst>
            <pc:docMk/>
            <pc:sldMk cId="1341215553" sldId="271"/>
            <ac:spMk id="22" creationId="{31959C24-AE91-9134-6343-9A1164826550}"/>
          </ac:spMkLst>
        </pc:spChg>
      </pc:sldChg>
      <pc:sldChg chg="delSp add mod">
        <pc:chgData name="Mariana Arroyo Muñoz" userId="2030ded4723f0177" providerId="LiveId" clId="{57C6F976-713F-4CF4-A134-5D576EC458D0}" dt="2026-10-14T21:45:14.497" v="11" actId="478"/>
        <pc:sldMkLst>
          <pc:docMk/>
          <pc:sldMk cId="4256126162" sldId="272"/>
        </pc:sldMkLst>
        <pc:spChg chg="del">
          <ac:chgData name="Mariana Arroyo Muñoz" userId="2030ded4723f0177" providerId="LiveId" clId="{57C6F976-713F-4CF4-A134-5D576EC458D0}" dt="2026-10-14T21:45:14.497" v="11" actId="478"/>
          <ac:spMkLst>
            <pc:docMk/>
            <pc:sldMk cId="4256126162" sldId="272"/>
            <ac:spMk id="20" creationId="{32635641-7DB7-B431-172E-2F7DB0B0DB70}"/>
          </ac:spMkLst>
        </pc:spChg>
        <pc:spChg chg="del">
          <ac:chgData name="Mariana Arroyo Muñoz" userId="2030ded4723f0177" providerId="LiveId" clId="{57C6F976-713F-4CF4-A134-5D576EC458D0}" dt="2026-10-14T21:45:14.497" v="11" actId="478"/>
          <ac:spMkLst>
            <pc:docMk/>
            <pc:sldMk cId="4256126162" sldId="272"/>
            <ac:spMk id="21" creationId="{70957C43-547B-6FF3-4805-60FA9FCF35E5}"/>
          </ac:spMkLst>
        </pc:spChg>
        <pc:spChg chg="del">
          <ac:chgData name="Mariana Arroyo Muñoz" userId="2030ded4723f0177" providerId="LiveId" clId="{57C6F976-713F-4CF4-A134-5D576EC458D0}" dt="2026-10-14T21:45:14.497" v="11" actId="478"/>
          <ac:spMkLst>
            <pc:docMk/>
            <pc:sldMk cId="4256126162" sldId="272"/>
            <ac:spMk id="22" creationId="{AB404B01-2936-6160-9B8D-8C0E7A0AE4F0}"/>
          </ac:spMkLst>
        </pc:spChg>
      </pc:sldChg>
      <pc:sldChg chg="add">
        <pc:chgData name="Mariana Arroyo Muñoz" userId="2030ded4723f0177" providerId="LiveId" clId="{57C6F976-713F-4CF4-A134-5D576EC458D0}" dt="2026-10-14T21:45:09.324" v="10" actId="2890"/>
        <pc:sldMkLst>
          <pc:docMk/>
          <pc:sldMk cId="4190479011" sldId="273"/>
        </pc:sldMkLst>
      </pc:sldChg>
      <pc:sldChg chg="delSp add mod">
        <pc:chgData name="Mariana Arroyo Muñoz" userId="2030ded4723f0177" providerId="LiveId" clId="{57C6F976-713F-4CF4-A134-5D576EC458D0}" dt="2026-10-14T21:46:42.532" v="17" actId="478"/>
        <pc:sldMkLst>
          <pc:docMk/>
          <pc:sldMk cId="2205315531" sldId="274"/>
        </pc:sldMkLst>
        <pc:spChg chg="del">
          <ac:chgData name="Mariana Arroyo Muñoz" userId="2030ded4723f0177" providerId="LiveId" clId="{57C6F976-713F-4CF4-A134-5D576EC458D0}" dt="2026-10-14T21:46:39.092" v="16" actId="478"/>
          <ac:spMkLst>
            <pc:docMk/>
            <pc:sldMk cId="2205315531" sldId="274"/>
            <ac:spMk id="14" creationId="{12F12866-87DB-8DC2-01F7-FE1FF2E6329A}"/>
          </ac:spMkLst>
        </pc:spChg>
        <pc:spChg chg="del">
          <ac:chgData name="Mariana Arroyo Muñoz" userId="2030ded4723f0177" providerId="LiveId" clId="{57C6F976-713F-4CF4-A134-5D576EC458D0}" dt="2026-10-14T21:46:39.092" v="16" actId="478"/>
          <ac:spMkLst>
            <pc:docMk/>
            <pc:sldMk cId="2205315531" sldId="274"/>
            <ac:spMk id="15" creationId="{8D7A2C1C-A95C-A1BF-908B-FFE8A01FB624}"/>
          </ac:spMkLst>
        </pc:spChg>
        <pc:spChg chg="del">
          <ac:chgData name="Mariana Arroyo Muñoz" userId="2030ded4723f0177" providerId="LiveId" clId="{57C6F976-713F-4CF4-A134-5D576EC458D0}" dt="2026-10-14T21:46:39.092" v="16" actId="478"/>
          <ac:spMkLst>
            <pc:docMk/>
            <pc:sldMk cId="2205315531" sldId="274"/>
            <ac:spMk id="16" creationId="{DBCBB711-5F7E-BC59-210F-71DBCFB30990}"/>
          </ac:spMkLst>
        </pc:spChg>
        <pc:spChg chg="del">
          <ac:chgData name="Mariana Arroyo Muñoz" userId="2030ded4723f0177" providerId="LiveId" clId="{57C6F976-713F-4CF4-A134-5D576EC458D0}" dt="2026-10-14T21:46:39.092" v="16" actId="478"/>
          <ac:spMkLst>
            <pc:docMk/>
            <pc:sldMk cId="2205315531" sldId="274"/>
            <ac:spMk id="17" creationId="{DF0762AC-999D-18D0-74BA-620478AB80D0}"/>
          </ac:spMkLst>
        </pc:spChg>
        <pc:spChg chg="del">
          <ac:chgData name="Mariana Arroyo Muñoz" userId="2030ded4723f0177" providerId="LiveId" clId="{57C6F976-713F-4CF4-A134-5D576EC458D0}" dt="2026-10-14T21:46:42.532" v="17" actId="478"/>
          <ac:spMkLst>
            <pc:docMk/>
            <pc:sldMk cId="2205315531" sldId="274"/>
            <ac:spMk id="18" creationId="{FC3834B8-D882-5FD4-5E0B-C75FA09D29B7}"/>
          </ac:spMkLst>
        </pc:spChg>
        <pc:spChg chg="del">
          <ac:chgData name="Mariana Arroyo Muñoz" userId="2030ded4723f0177" providerId="LiveId" clId="{57C6F976-713F-4CF4-A134-5D576EC458D0}" dt="2026-10-14T21:46:42.532" v="17" actId="478"/>
          <ac:spMkLst>
            <pc:docMk/>
            <pc:sldMk cId="2205315531" sldId="274"/>
            <ac:spMk id="19" creationId="{618E5408-FDA9-80AA-7833-AEFFF0793B01}"/>
          </ac:spMkLst>
        </pc:spChg>
        <pc:spChg chg="del">
          <ac:chgData name="Mariana Arroyo Muñoz" userId="2030ded4723f0177" providerId="LiveId" clId="{57C6F976-713F-4CF4-A134-5D576EC458D0}" dt="2026-10-14T21:46:42.532" v="17" actId="478"/>
          <ac:spMkLst>
            <pc:docMk/>
            <pc:sldMk cId="2205315531" sldId="274"/>
            <ac:spMk id="20" creationId="{398E0545-082E-6FFA-621D-4ED48CA68092}"/>
          </ac:spMkLst>
        </pc:spChg>
      </pc:sldChg>
      <pc:sldChg chg="delSp add mod">
        <pc:chgData name="Mariana Arroyo Muñoz" userId="2030ded4723f0177" providerId="LiveId" clId="{57C6F976-713F-4CF4-A134-5D576EC458D0}" dt="2026-10-14T21:47:30.094" v="19" actId="478"/>
        <pc:sldMkLst>
          <pc:docMk/>
          <pc:sldMk cId="3274566663" sldId="275"/>
        </pc:sldMkLst>
        <pc:spChg chg="del">
          <ac:chgData name="Mariana Arroyo Muñoz" userId="2030ded4723f0177" providerId="LiveId" clId="{57C6F976-713F-4CF4-A134-5D576EC458D0}" dt="2026-10-14T21:47:30.094" v="19" actId="478"/>
          <ac:spMkLst>
            <pc:docMk/>
            <pc:sldMk cId="3274566663" sldId="275"/>
            <ac:spMk id="18" creationId="{C5FFB99A-8C3F-D30B-C07B-0AA3E61C1A6C}"/>
          </ac:spMkLst>
        </pc:spChg>
        <pc:spChg chg="del">
          <ac:chgData name="Mariana Arroyo Muñoz" userId="2030ded4723f0177" providerId="LiveId" clId="{57C6F976-713F-4CF4-A134-5D576EC458D0}" dt="2026-10-14T21:47:30.094" v="19" actId="478"/>
          <ac:spMkLst>
            <pc:docMk/>
            <pc:sldMk cId="3274566663" sldId="275"/>
            <ac:spMk id="19" creationId="{64BCF54F-E69C-C261-5F15-D1D75B8D8E7A}"/>
          </ac:spMkLst>
        </pc:spChg>
        <pc:spChg chg="del">
          <ac:chgData name="Mariana Arroyo Muñoz" userId="2030ded4723f0177" providerId="LiveId" clId="{57C6F976-713F-4CF4-A134-5D576EC458D0}" dt="2026-10-14T21:47:30.094" v="19" actId="478"/>
          <ac:spMkLst>
            <pc:docMk/>
            <pc:sldMk cId="3274566663" sldId="275"/>
            <ac:spMk id="20" creationId="{BBC04BA8-99F1-1A8C-E466-511A6BDEC1FB}"/>
          </ac:spMkLst>
        </pc:spChg>
      </pc:sldChg>
      <pc:sldChg chg="add">
        <pc:chgData name="Mariana Arroyo Muñoz" userId="2030ded4723f0177" providerId="LiveId" clId="{57C6F976-713F-4CF4-A134-5D576EC458D0}" dt="2026-10-14T21:46:52.828" v="18" actId="2890"/>
        <pc:sldMkLst>
          <pc:docMk/>
          <pc:sldMk cId="3030354599" sldId="276"/>
        </pc:sldMkLst>
      </pc:sldChg>
      <pc:sldChg chg="delSp add mod">
        <pc:chgData name="Mariana Arroyo Muñoz" userId="2030ded4723f0177" providerId="LiveId" clId="{57C6F976-713F-4CF4-A134-5D576EC458D0}" dt="2026-10-14T21:50:42.481" v="28" actId="478"/>
        <pc:sldMkLst>
          <pc:docMk/>
          <pc:sldMk cId="2420581737" sldId="277"/>
        </pc:sldMkLst>
        <pc:spChg chg="del">
          <ac:chgData name="Mariana Arroyo Muñoz" userId="2030ded4723f0177" providerId="LiveId" clId="{57C6F976-713F-4CF4-A134-5D576EC458D0}" dt="2026-10-14T21:50:38.615" v="27" actId="478"/>
          <ac:spMkLst>
            <pc:docMk/>
            <pc:sldMk cId="2420581737" sldId="277"/>
            <ac:spMk id="12" creationId="{8743767A-1FCC-4408-31D5-60417011E0B2}"/>
          </ac:spMkLst>
        </pc:spChg>
        <pc:spChg chg="del">
          <ac:chgData name="Mariana Arroyo Muñoz" userId="2030ded4723f0177" providerId="LiveId" clId="{57C6F976-713F-4CF4-A134-5D576EC458D0}" dt="2026-10-14T21:50:38.615" v="27" actId="478"/>
          <ac:spMkLst>
            <pc:docMk/>
            <pc:sldMk cId="2420581737" sldId="277"/>
            <ac:spMk id="13" creationId="{2DE80A05-6D63-F148-4A9C-2F910E65BF0F}"/>
          </ac:spMkLst>
        </pc:spChg>
        <pc:spChg chg="del">
          <ac:chgData name="Mariana Arroyo Muñoz" userId="2030ded4723f0177" providerId="LiveId" clId="{57C6F976-713F-4CF4-A134-5D576EC458D0}" dt="2026-10-14T21:50:38.615" v="27" actId="478"/>
          <ac:spMkLst>
            <pc:docMk/>
            <pc:sldMk cId="2420581737" sldId="277"/>
            <ac:spMk id="14" creationId="{48CA1DE7-914B-5546-7832-CB67382AB8DD}"/>
          </ac:spMkLst>
        </pc:spChg>
        <pc:spChg chg="del">
          <ac:chgData name="Mariana Arroyo Muñoz" userId="2030ded4723f0177" providerId="LiveId" clId="{57C6F976-713F-4CF4-A134-5D576EC458D0}" dt="2026-10-14T21:50:38.615" v="27" actId="478"/>
          <ac:spMkLst>
            <pc:docMk/>
            <pc:sldMk cId="2420581737" sldId="277"/>
            <ac:spMk id="15" creationId="{395F3E87-A2E1-B558-2C8B-97B3923ACCDC}"/>
          </ac:spMkLst>
        </pc:spChg>
        <pc:spChg chg="del">
          <ac:chgData name="Mariana Arroyo Muñoz" userId="2030ded4723f0177" providerId="LiveId" clId="{57C6F976-713F-4CF4-A134-5D576EC458D0}" dt="2026-10-14T21:50:38.615" v="27" actId="478"/>
          <ac:spMkLst>
            <pc:docMk/>
            <pc:sldMk cId="2420581737" sldId="277"/>
            <ac:spMk id="16" creationId="{8F5D77DF-97BE-2F78-E95E-C21B03FEC33A}"/>
          </ac:spMkLst>
        </pc:spChg>
        <pc:spChg chg="del">
          <ac:chgData name="Mariana Arroyo Muñoz" userId="2030ded4723f0177" providerId="LiveId" clId="{57C6F976-713F-4CF4-A134-5D576EC458D0}" dt="2026-10-14T21:50:38.615" v="27" actId="478"/>
          <ac:spMkLst>
            <pc:docMk/>
            <pc:sldMk cId="2420581737" sldId="277"/>
            <ac:spMk id="17" creationId="{5467C9A2-0FBF-5EFE-CBDF-5ECE67F55D10}"/>
          </ac:spMkLst>
        </pc:spChg>
        <pc:spChg chg="del">
          <ac:chgData name="Mariana Arroyo Muñoz" userId="2030ded4723f0177" providerId="LiveId" clId="{57C6F976-713F-4CF4-A134-5D576EC458D0}" dt="2026-10-14T21:50:42.481" v="28" actId="478"/>
          <ac:spMkLst>
            <pc:docMk/>
            <pc:sldMk cId="2420581737" sldId="277"/>
            <ac:spMk id="18" creationId="{1AA7405B-D460-8689-6A2F-15330A82CD48}"/>
          </ac:spMkLst>
        </pc:spChg>
        <pc:spChg chg="del">
          <ac:chgData name="Mariana Arroyo Muñoz" userId="2030ded4723f0177" providerId="LiveId" clId="{57C6F976-713F-4CF4-A134-5D576EC458D0}" dt="2026-10-14T21:50:42.481" v="28" actId="478"/>
          <ac:spMkLst>
            <pc:docMk/>
            <pc:sldMk cId="2420581737" sldId="277"/>
            <ac:spMk id="19" creationId="{1E48CD1C-1560-0736-49BB-451EAB41C2F4}"/>
          </ac:spMkLst>
        </pc:spChg>
        <pc:spChg chg="del">
          <ac:chgData name="Mariana Arroyo Muñoz" userId="2030ded4723f0177" providerId="LiveId" clId="{57C6F976-713F-4CF4-A134-5D576EC458D0}" dt="2026-10-14T21:50:42.481" v="28" actId="478"/>
          <ac:spMkLst>
            <pc:docMk/>
            <pc:sldMk cId="2420581737" sldId="277"/>
            <ac:spMk id="20" creationId="{D324A21E-6B8C-1F1C-188F-BB25A107CF67}"/>
          </ac:spMkLst>
        </pc:spChg>
        <pc:spChg chg="del">
          <ac:chgData name="Mariana Arroyo Muñoz" userId="2030ded4723f0177" providerId="LiveId" clId="{57C6F976-713F-4CF4-A134-5D576EC458D0}" dt="2026-10-14T21:50:38.615" v="27" actId="478"/>
          <ac:spMkLst>
            <pc:docMk/>
            <pc:sldMk cId="2420581737" sldId="277"/>
            <ac:spMk id="21" creationId="{811672C0-08F3-A0B6-3628-DDC048DEB5D2}"/>
          </ac:spMkLst>
        </pc:spChg>
        <pc:spChg chg="del">
          <ac:chgData name="Mariana Arroyo Muñoz" userId="2030ded4723f0177" providerId="LiveId" clId="{57C6F976-713F-4CF4-A134-5D576EC458D0}" dt="2026-10-14T21:50:38.615" v="27" actId="478"/>
          <ac:spMkLst>
            <pc:docMk/>
            <pc:sldMk cId="2420581737" sldId="277"/>
            <ac:spMk id="22" creationId="{9094F305-B8CA-782D-7975-9646F9559ED2}"/>
          </ac:spMkLst>
        </pc:spChg>
      </pc:sldChg>
      <pc:sldChg chg="delSp add mod">
        <pc:chgData name="Mariana Arroyo Muñoz" userId="2030ded4723f0177" providerId="LiveId" clId="{57C6F976-713F-4CF4-A134-5D576EC458D0}" dt="2026-10-14T21:51:45.771" v="30" actId="478"/>
        <pc:sldMkLst>
          <pc:docMk/>
          <pc:sldMk cId="18694994" sldId="278"/>
        </pc:sldMkLst>
        <pc:spChg chg="del">
          <ac:chgData name="Mariana Arroyo Muñoz" userId="2030ded4723f0177" providerId="LiveId" clId="{57C6F976-713F-4CF4-A134-5D576EC458D0}" dt="2026-10-14T21:51:42.712" v="29" actId="478"/>
          <ac:spMkLst>
            <pc:docMk/>
            <pc:sldMk cId="18694994" sldId="278"/>
            <ac:spMk id="15" creationId="{2B9BB435-116D-E93D-F9FD-E85B4AFE3BA9}"/>
          </ac:spMkLst>
        </pc:spChg>
        <pc:spChg chg="del">
          <ac:chgData name="Mariana Arroyo Muñoz" userId="2030ded4723f0177" providerId="LiveId" clId="{57C6F976-713F-4CF4-A134-5D576EC458D0}" dt="2026-10-14T21:51:42.712" v="29" actId="478"/>
          <ac:spMkLst>
            <pc:docMk/>
            <pc:sldMk cId="18694994" sldId="278"/>
            <ac:spMk id="16" creationId="{DD7D5446-1C4B-4206-0541-FE851ED14899}"/>
          </ac:spMkLst>
        </pc:spChg>
        <pc:spChg chg="del">
          <ac:chgData name="Mariana Arroyo Muñoz" userId="2030ded4723f0177" providerId="LiveId" clId="{57C6F976-713F-4CF4-A134-5D576EC458D0}" dt="2026-10-14T21:51:42.712" v="29" actId="478"/>
          <ac:spMkLst>
            <pc:docMk/>
            <pc:sldMk cId="18694994" sldId="278"/>
            <ac:spMk id="17" creationId="{DB35EC8A-4582-86D2-BF75-941F273AF345}"/>
          </ac:spMkLst>
        </pc:spChg>
        <pc:spChg chg="del">
          <ac:chgData name="Mariana Arroyo Muñoz" userId="2030ded4723f0177" providerId="LiveId" clId="{57C6F976-713F-4CF4-A134-5D576EC458D0}" dt="2026-10-14T21:51:45.771" v="30" actId="478"/>
          <ac:spMkLst>
            <pc:docMk/>
            <pc:sldMk cId="18694994" sldId="278"/>
            <ac:spMk id="18" creationId="{22A17996-9026-4C1C-54F8-C7A0B8AF225E}"/>
          </ac:spMkLst>
        </pc:spChg>
        <pc:spChg chg="del">
          <ac:chgData name="Mariana Arroyo Muñoz" userId="2030ded4723f0177" providerId="LiveId" clId="{57C6F976-713F-4CF4-A134-5D576EC458D0}" dt="2026-10-14T21:51:45.771" v="30" actId="478"/>
          <ac:spMkLst>
            <pc:docMk/>
            <pc:sldMk cId="18694994" sldId="278"/>
            <ac:spMk id="19" creationId="{07E125FC-4104-563C-1752-693A8405FAB7}"/>
          </ac:spMkLst>
        </pc:spChg>
        <pc:spChg chg="del">
          <ac:chgData name="Mariana Arroyo Muñoz" userId="2030ded4723f0177" providerId="LiveId" clId="{57C6F976-713F-4CF4-A134-5D576EC458D0}" dt="2026-10-14T21:51:45.771" v="30" actId="478"/>
          <ac:spMkLst>
            <pc:docMk/>
            <pc:sldMk cId="18694994" sldId="278"/>
            <ac:spMk id="20" creationId="{DFC39506-B164-0742-82B2-0E894AE855C2}"/>
          </ac:spMkLst>
        </pc:spChg>
        <pc:spChg chg="del">
          <ac:chgData name="Mariana Arroyo Muñoz" userId="2030ded4723f0177" providerId="LiveId" clId="{57C6F976-713F-4CF4-A134-5D576EC458D0}" dt="2026-10-14T21:51:42.712" v="29" actId="478"/>
          <ac:spMkLst>
            <pc:docMk/>
            <pc:sldMk cId="18694994" sldId="278"/>
            <ac:spMk id="21" creationId="{304A794D-151F-B1F6-DB9A-484EF9ACDB18}"/>
          </ac:spMkLst>
        </pc:spChg>
        <pc:spChg chg="del">
          <ac:chgData name="Mariana Arroyo Muñoz" userId="2030ded4723f0177" providerId="LiveId" clId="{57C6F976-713F-4CF4-A134-5D576EC458D0}" dt="2026-10-14T21:51:42.712" v="29" actId="478"/>
          <ac:spMkLst>
            <pc:docMk/>
            <pc:sldMk cId="18694994" sldId="278"/>
            <ac:spMk id="22" creationId="{A307EC80-A747-EC7C-E013-CEAB4574F849}"/>
          </ac:spMkLst>
        </pc:spChg>
      </pc:sldChg>
      <pc:sldChg chg="delSp add mod">
        <pc:chgData name="Mariana Arroyo Muñoz" userId="2030ded4723f0177" providerId="LiveId" clId="{57C6F976-713F-4CF4-A134-5D576EC458D0}" dt="2026-10-14T21:52:05.751" v="32" actId="478"/>
        <pc:sldMkLst>
          <pc:docMk/>
          <pc:sldMk cId="1687870995" sldId="279"/>
        </pc:sldMkLst>
        <pc:spChg chg="del">
          <ac:chgData name="Mariana Arroyo Muñoz" userId="2030ded4723f0177" providerId="LiveId" clId="{57C6F976-713F-4CF4-A134-5D576EC458D0}" dt="2026-10-14T21:52:05.751" v="32" actId="478"/>
          <ac:spMkLst>
            <pc:docMk/>
            <pc:sldMk cId="1687870995" sldId="279"/>
            <ac:spMk id="18" creationId="{4AA89493-B136-C205-9CA6-DFC45CEDDEE2}"/>
          </ac:spMkLst>
        </pc:spChg>
        <pc:spChg chg="del">
          <ac:chgData name="Mariana Arroyo Muñoz" userId="2030ded4723f0177" providerId="LiveId" clId="{57C6F976-713F-4CF4-A134-5D576EC458D0}" dt="2026-10-14T21:52:05.751" v="32" actId="478"/>
          <ac:spMkLst>
            <pc:docMk/>
            <pc:sldMk cId="1687870995" sldId="279"/>
            <ac:spMk id="19" creationId="{D2BD2A00-CC34-D1A8-B26E-510444C94E1F}"/>
          </ac:spMkLst>
        </pc:spChg>
        <pc:spChg chg="del">
          <ac:chgData name="Mariana Arroyo Muñoz" userId="2030ded4723f0177" providerId="LiveId" clId="{57C6F976-713F-4CF4-A134-5D576EC458D0}" dt="2026-10-14T21:52:05.751" v="32" actId="478"/>
          <ac:spMkLst>
            <pc:docMk/>
            <pc:sldMk cId="1687870995" sldId="279"/>
            <ac:spMk id="20" creationId="{F17659FD-3603-398D-1350-7613973D32C4}"/>
          </ac:spMkLst>
        </pc:spChg>
        <pc:spChg chg="del">
          <ac:chgData name="Mariana Arroyo Muñoz" userId="2030ded4723f0177" providerId="LiveId" clId="{57C6F976-713F-4CF4-A134-5D576EC458D0}" dt="2026-10-14T21:52:02.725" v="31" actId="478"/>
          <ac:spMkLst>
            <pc:docMk/>
            <pc:sldMk cId="1687870995" sldId="279"/>
            <ac:spMk id="21" creationId="{D778107F-4081-8663-BC0D-441FE6809608}"/>
          </ac:spMkLst>
        </pc:spChg>
        <pc:spChg chg="del">
          <ac:chgData name="Mariana Arroyo Muñoz" userId="2030ded4723f0177" providerId="LiveId" clId="{57C6F976-713F-4CF4-A134-5D576EC458D0}" dt="2026-10-14T21:52:02.725" v="31" actId="478"/>
          <ac:spMkLst>
            <pc:docMk/>
            <pc:sldMk cId="1687870995" sldId="279"/>
            <ac:spMk id="22" creationId="{BDEE2033-EACB-CBBC-7F6F-28671DD85C4A}"/>
          </ac:spMkLst>
        </pc:spChg>
      </pc:sldChg>
      <pc:sldChg chg="modSp add mod">
        <pc:chgData name="Mariana Arroyo Muñoz" userId="2030ded4723f0177" providerId="LiveId" clId="{57C6F976-713F-4CF4-A134-5D576EC458D0}" dt="2026-10-14T21:52:56.770" v="34" actId="113"/>
        <pc:sldMkLst>
          <pc:docMk/>
          <pc:sldMk cId="700053372" sldId="280"/>
        </pc:sldMkLst>
        <pc:spChg chg="mod">
          <ac:chgData name="Mariana Arroyo Muñoz" userId="2030ded4723f0177" providerId="LiveId" clId="{57C6F976-713F-4CF4-A134-5D576EC458D0}" dt="2026-10-14T21:52:56.770" v="34" actId="113"/>
          <ac:spMkLst>
            <pc:docMk/>
            <pc:sldMk cId="700053372" sldId="280"/>
            <ac:spMk id="20" creationId="{04053EE5-0F18-2357-7F71-269B1920E06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Carpetas por 100 mil</c:v>
                </c:pt>
              </c:strCache>
            </c:strRef>
          </c:tx>
          <c:spPr>
            <a:solidFill>
              <a:srgbClr val="0B5D6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02E"/>
                    </a:solidFill>
                    <a:latin typeface="Calibri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Cuajimalpa</c:v>
                </c:pt>
                <c:pt idx="1">
                  <c:v>Milpa Alta</c:v>
                </c:pt>
                <c:pt idx="2">
                  <c:v>Iztapalapa</c:v>
                </c:pt>
                <c:pt idx="3">
                  <c:v>Miguel Hidalgo</c:v>
                </c:pt>
                <c:pt idx="4">
                  <c:v>Venustiano C.</c:v>
                </c:pt>
                <c:pt idx="5">
                  <c:v>Cuauhtémoc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428</c:v>
                </c:pt>
                <c:pt idx="1">
                  <c:v>494</c:v>
                </c:pt>
                <c:pt idx="2">
                  <c:v>648</c:v>
                </c:pt>
                <c:pt idx="3">
                  <c:v>895</c:v>
                </c:pt>
                <c:pt idx="4">
                  <c:v>946</c:v>
                </c:pt>
                <c:pt idx="5">
                  <c:v>1512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F1-44E0-AD66-F3E809508C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420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00"/>
        </c:scaling>
        <c:delete val="0"/>
        <c:axPos val="b"/>
        <c:majorGridlines>
          <c:spPr>
            <a:ln w="9525" cap="flat">
              <a:solidFill>
                <a:srgbClr val="D3D8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 cada 100 delitos</c:v>
                </c:pt>
              </c:strCache>
            </c:strRef>
          </c:tx>
          <c:spPr>
            <a:solidFill>
              <a:srgbClr val="0B5D6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B5D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468-48CA-8D69-7EDB0EB00197}"/>
              </c:ext>
            </c:extLst>
          </c:dPt>
          <c:dPt>
            <c:idx val="1"/>
            <c:invertIfNegative val="0"/>
            <c:bubble3D val="0"/>
            <c:spPr>
              <a:solidFill>
                <a:srgbClr val="5B8D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468-48CA-8D69-7EDB0EB00197}"/>
              </c:ext>
            </c:extLst>
          </c:dPt>
          <c:dPt>
            <c:idx val="2"/>
            <c:invertIfNegative val="0"/>
            <c:bubble3D val="0"/>
            <c:spPr>
              <a:solidFill>
                <a:srgbClr val="C9D3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468-48CA-8D69-7EDB0EB0019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14202E"/>
                    </a:solidFill>
                    <a:latin typeface="Calibri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Llegan a carpeta</c:v>
                </c:pt>
                <c:pt idx="1">
                  <c:v>Se denuncian</c:v>
                </c:pt>
                <c:pt idx="2">
                  <c:v>Ocurren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11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468-48CA-8D69-7EDB0EB001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20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</c:scaling>
        <c:delete val="0"/>
        <c:axPos val="b"/>
        <c:majorGridlines>
          <c:spPr>
            <a:ln w="9525" cap="flat">
              <a:solidFill>
                <a:srgbClr val="D3D8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Alcaldías distinguibles (de 16)</c:v>
                </c:pt>
              </c:strCache>
            </c:strRef>
          </c:tx>
          <c:spPr>
            <a:solidFill>
              <a:srgbClr val="0B5D6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14202E"/>
                    </a:solidFill>
                    <a:latin typeface="Calibri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d: se denuncia</c:v>
                </c:pt>
                <c:pt idx="1">
                  <c:v>k: llega a carpeta</c:v>
                </c:pt>
                <c:pt idx="2">
                  <c:v>R: queda registrado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D9-4D99-98DC-8EDDE5A8CA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420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9525" cap="flat">
              <a:solidFill>
                <a:srgbClr val="D3D8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Diferencia típica (puntos porcentuales)</c:v>
                </c:pt>
              </c:strCache>
            </c:strRef>
          </c:tx>
          <c:spPr>
            <a:solidFill>
              <a:srgbClr val="0B5D6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74B-45AA-9C06-6F48FA28509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74B-45AA-9C06-6F48FA285093}"/>
              </c:ext>
            </c:extLst>
          </c:dPt>
          <c:dPt>
            <c:idx val="2"/>
            <c:invertIfNegative val="0"/>
            <c:bubble3D val="0"/>
            <c:spPr>
              <a:solidFill>
                <a:srgbClr val="6B77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74B-45AA-9C06-6F48FA28509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 b="0" i="0" u="none" strike="noStrike">
                    <a:solidFill>
                      <a:srgbClr val="14202E"/>
                    </a:solidFill>
                    <a:latin typeface="Calibri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Entre tipos
de delito</c:v>
                </c:pt>
                <c:pt idx="1">
                  <c:v>Entre tipos, sin
robo de vehículo</c:v>
                </c:pt>
                <c:pt idx="2">
                  <c:v>Entre
alcaldías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16.8</c:v>
                </c:pt>
                <c:pt idx="1">
                  <c:v>7.7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74B-45AA-9C06-6F48FA2850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0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9525" cap="flat">
              <a:solidFill>
                <a:srgbClr val="D3D8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121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Saludo. Soy Mariana. Voy a contarles un trabajo que empezó buscando una cosa y encontró otra, y la que encontró resultó más útil. Quince minutos y al final les hago una demostración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Índice. Veinte segundos: el problema, lo que medí, lo que encontré, la demostración y las recomendaciones. Aviso desde ahora que el trabajo buscaba una cosa y encontró otra.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Empiezo por el mapa oficial. La tasa de carpetas varía tres y media a uno entre alcaldías. Con ese mapa se asignan patrullas, agencias y programas, y se anuncian avances. En octubre pasado la Secretaría de Seguridad Ciudadana reportó descensos usando exactamente esta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carpeta no es un delito: es una denuncia que fue presentada, recibida y clasificada. Hay dos filtros. Y la pregunta es qué parte de la desigualdad del mapa viene de cada cosa.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64D6F-A491-EF9C-04E7-42E083CE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46C50-74ED-ED5A-B6CF-EFD2A3083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EE7CF-B61D-38DA-5741-64E09B9FD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carpeta no es un delito: es una denuncia que fue presentada, recibida y clasificada. Hay dos filtros. Y la pregunta es qué parte de la desigualdad del mapa viene de cada cosa.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FABFD-9030-3D75-8E51-BBF6CEEFE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50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27A1B-7110-B792-8351-DE8F5F5FE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EFD71-08E2-CCAC-0255-5E8557EBC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F5E27-C24D-B26F-B310-9282746B5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carpeta no es un delito: es una denuncia que fue presentada, recibida y clasificada. Hay dos filtros. Y la pregunta es qué parte de la desigualdad del mapa viene de cada cosa.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53657-D7BC-15A2-E53E-CCD89880C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26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4D1A5-8777-4033-5522-816B9D6A3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1C530E-8EBC-ABC1-C83A-8D29AE1D8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80B59-65D1-979D-609E-296D234D6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carpeta no es un delito: es una denuncia que fue presentada, recibida y clasificada. Hay dos filtros. Y la pregunta es qué parte de la desigualdad del mapa viene de cada cosa.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1B9B5-57D9-1682-2131-9D0032FE7F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12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Separo la decisión de la víctima de la del ministerio público. Eso no se puede hacer en el antecedente británico porque allá denunciar y registrar son casi lo mismo. Aquí sí, y las dos barreras piden políticas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182E7-8A69-4494-9CEB-20E696583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98719-745F-6240-25B3-59115D3F7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D0DF9-E0DA-A01D-B979-9D73A9559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Separo la decisión de la víctima de la del ministerio público. Eso no se puede hacer en el antecedente británico porque allá denunciar y registrar son casi lo mismo. Aquí sí, y las dos barreras piden políticas distintas.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B9AD8-310D-CD7B-9384-FA470F09B9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37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7D9C2-EE8E-16EB-7233-95004E57A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E3831-1017-18B5-6453-32D9088E6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7F780-7C25-D0A1-08AC-78AD4F261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Separo la decisión de la víctima de la del ministerio público. Eso no se puede hacer en el antecedente británico porque allá denunciar y registrar son casi lo mismo. Aquí sí, y las dos barreras piden políticas distintas.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B5D85-354C-EECF-EF49-74090DC0B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77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DDCF8-3CAC-6FBB-E6A7-DC3D9799A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01590-69E1-948B-8BE1-24DA8C2D8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5C791-0D8B-AB33-A35B-723135581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Separo la decisión de la víctima de la del ministerio público. Eso no se puede hacer en el antecedente británico porque allá denunciar y registrar son casi lo mismo. Aquí sí, y las dos barreras piden políticas distintas.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C1829-DDDE-B6DD-2AD7-47F8A35350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55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invento una encuesta: uso la del INEGI. El problema es que no está diseñada para dar cifras por alcaldía, y para eso existe la estimación en áreas pequeñas. Replico el protocolo que el propio INEGI publicó. Y la prueba de que está bien hecho es que reproduzco exactamente sus cuadros publicados.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38B0E-53F9-1660-1A96-C87B910D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BED03-05F0-AA02-14FF-B9302AE1C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E2552-4B29-88F5-7666-5532FDA88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invento una encuesta: uso la del INEGI. El problema es que no está diseñada para dar cifras por alcaldía, y para eso existe la estimación en áreas pequeñas. Replico el protocolo que el propio INEGI publicó. Y la prueba de que está bien hecho es que reproduzco exactamente sus cuadros publicados.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86BEE-4607-DEAE-3FEA-0F10AF564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6473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92785-D095-634B-E8EE-CF94ED51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BD99B-3A2B-E836-6C12-204198EDB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8E7F3-978F-EAAA-328D-EA05AFD9D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invento una encuesta: uso la del INEGI. El problema es que no está diseñada para dar cifras por alcaldía, y para eso existe la estimación en áreas pequeñas. Replico el protocolo que el propio INEGI publicó. Y la prueba de que está bien hecho es que reproduzco exactamente sus cuadros publicados.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91860-B236-4D51-65B9-07A81B350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54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F21A-A13D-322D-7BA9-7A8E167C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289D9-B958-9BF4-346F-60804F42E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27D394-2A49-3CCD-E78C-A78AA0E15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invento una encuesta: uso la del INEGI. El problema es que no está diseñada para dar cifras por alcaldía, y para eso existe la estimación en áreas pequeñas. Replico el protocolo que el propio INEGI publicó. Y la prueba de que está bien hecho es que reproduzco exactamente sus cuadros publicados.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96FA6-23DA-F3EA-1111-66F2F9048F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05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A2D6E-632D-3842-5533-47FD679ED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35396-EFE1-0848-64BF-63F6F88C3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5EB8B-76D3-A977-A665-56FBB64D9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invento una encuesta: uso la del INEGI. El problema es que no está diseñada para dar cifras por alcaldía, y para eso existe la estimación en áreas pequeñas. Replico el protocolo que el propio INEGI publicó. Y la prueba de que está bien hecho es que reproduzco exactamente sus cuadros publicados.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DE33F-EEEB-A372-C913-344C10E611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74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 resultado. De cada cien delitos, once se denuncian y siete quedan registrados. Y aquí está el dato que más me importa: una de cada tres denuncias que sí se presentan no llega a carpeta, pese a que la ley obliga a abrirla. Eso nadie lo había separado así.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resultado, y es el que cambió el proyecto. No hay una sola alcaldía que se distinga del resto en la probabilidad de que un delito quede registrado. Y el orden de ese indicador no tiene nada que ver con el orden del mapa oficial: la correlación es cero punto cero seis.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Ésta es la lámina que me interesa que vean. Un resultado negativo solo vale si el método podía encontrar lo que no encontró. Fabriqué datos donde sí hay diferencias y revisé cuántas veces las encuentra. Si las alcaldías difirieran tanto como difieren sus carpetas, lo habría detectado en el cien por ciento de las veces.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Tercer resultado, y es el positivo. La variación sí existe, pero está en otro eje: entre tipos de delito es veintiséis veces mayor que entre alcaldías. El robo de vehículo se denuncia tres de cada cuatro veces porque el seguro lo exige; el hostigamiento, tres de cada cien. La frase que resume el trabajo es ésa: depende de qué te pasó, no de dónde vives.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no es la denuncia, qué es. Dos cosas. Una, diferencias reales de incidencia, que sí existen aunque menores. Y dos, un problema de denominador: las carpetas se cuentan donde ocurre el delito pero la tasa se divide entre quienes viven ahí. En Cuauhtémoc, cincuenta y ocho de cada cien víctimas viven en otra alcaldía.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DEMO. Orden: embudo con el comparador de tipos, luego dónde o qué con la potencia, luego la ficha de Cuauhtémoc. Cinco minutos. Si falla el internet, tengo el video de respaldo y la app corriendo en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recomendaciones. La primera es dejar de leer el mapa como si midiera denuncia. La segunda, priorizar por tipo. La tercera es la más barata y la más útil: que la Fiscalía publique cuántas denuncias recibe, no solo cuántas carpetas abre. Y la cuarta, corregir denominadores.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Prefiero decir yo lo que no afirmo, antes de que me lo pregunten. Cuatro cosas. Y sobre todo la tercera: la ley permite no iniciar investigación cuando es evidente que no hay delito, así que mi cifra es una cota superior del incumplimiento, no su medida.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Cierro así: este trabajo no encontró lo que buscaba, encontró algo mejor documentado. Un resultado negativo bien establecido vale más que un hallazgo positivo frágil.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8FB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titulación · Ciencia de Datos Aplicada · ITAM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denuncia a la carpeta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ciudadana e institucional en la cifra negra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Ciudad de México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886200"/>
            <a:ext cx="1463040" cy="27432"/>
          </a:xfrm>
          <a:prstGeom prst="rect">
            <a:avLst/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Arroyo Muñoz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607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ENVIPE 2021–2025 · 2.1 millones de carpetas de la Fiscalía · 16 alcaldías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Quince minutos y cinco de demostración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68680" y="17647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868680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91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con el que se decide, y por qué no mide lo que parece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05456"/>
            <a:ext cx="1106424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86868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86868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243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medí y cómo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6243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barreras separadas, con estimación en áreas pequeñas sobre la ENVIPE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1106424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68680" y="36301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420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868680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5570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encontré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55701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embudo de la ciudad, la ausencia de variación territorial y dónde sí está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70832"/>
            <a:ext cx="11064240" cy="786384"/>
          </a:xfrm>
          <a:prstGeom prst="roundRect">
            <a:avLst>
              <a:gd name="adj" fmla="val 4651"/>
            </a:avLst>
          </a:prstGeom>
          <a:solidFill>
            <a:srgbClr val="FFF3F1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868680" y="45628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8C2F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868680" y="4562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4897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48970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aplicación, cinco minutos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106424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868680" y="5495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868680" y="5495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54223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debería cambiar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54223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y límites del trabajo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buscaba una cosa y encontró otra. La que encontró resultó más útil.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mapa con el que se asignan los recursos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de investigación por cada 100 mil habitantes, 2020–2024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6858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600200"/>
            <a:ext cx="393192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7882128" y="1746504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a 1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882128" y="233172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la alcaldía con la tasa más alta y la más baja. Estable los cinco años.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0" y="3200400"/>
            <a:ext cx="3931920" cy="2331720"/>
          </a:xfrm>
          <a:prstGeom prst="roundRect">
            <a:avLst>
              <a:gd name="adj" fmla="val 1569"/>
            </a:avLst>
          </a:prstGeom>
          <a:solidFill>
            <a:srgbClr val="E7EEEE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 txBox="1"/>
          <p:nvPr/>
        </p:nvSpPr>
        <p:spPr>
          <a:xfrm>
            <a:off x="7936992" y="33649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este mapa se decide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936992" y="3703320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patrullar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abrir agencias del ministerio público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concentrar atención a víctimas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alcaldías van mejorando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27278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Fiscalía General de Justicia de la CDMX, carpetas del núcleo comparable, 2020–2024. Solo se muestran seis de las dieciséis alcaldías.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Pero ese mapa no cuenta delitos: cuenta denuncias registradas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hecho y el dato hay dos filtros, y ninguno es neutral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02152" cy="82296"/>
          </a:xfrm>
          <a:prstGeom prst="rect">
            <a:avLst/>
          </a:prstGeom>
          <a:solidFill>
            <a:srgbClr val="C9D3D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804672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un delito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97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universo real. Nadie lo observa.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EBB8A-6EBC-F391-3535-0520EA3F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7513C6-2B84-5B2C-479D-82529D6930F5}"/>
              </a:ext>
            </a:extLst>
          </p:cNvPr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D657EC-314A-AFB2-5DCF-24DD40CAFA8D}"/>
              </a:ext>
            </a:extLst>
          </p:cNvPr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26C244-5B44-C688-BF23-62ACCA119B43}"/>
              </a:ext>
            </a:extLst>
          </p:cNvPr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Pero ese mapa no cuenta delitos: cuenta denuncias registradas</a:t>
            </a:r>
            <a:endParaRPr lang="en-US" sz="2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E3A737B-53A5-A455-DD08-D4C228DF35F2}"/>
              </a:ext>
            </a:extLst>
          </p:cNvPr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hecho y el dato hay dos filtros, y ninguno es neutral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3918962-CA58-45DD-16AC-61057438BCB4}"/>
              </a:ext>
            </a:extLst>
          </p:cNvPr>
          <p:cNvSpPr/>
          <p:nvPr/>
        </p:nvSpPr>
        <p:spPr>
          <a:xfrm>
            <a:off x="548640" y="1737360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5671679-22C3-EEC0-9D12-203E40B646C0}"/>
              </a:ext>
            </a:extLst>
          </p:cNvPr>
          <p:cNvSpPr/>
          <p:nvPr/>
        </p:nvSpPr>
        <p:spPr>
          <a:xfrm>
            <a:off x="548640" y="1737360"/>
            <a:ext cx="3502152" cy="82296"/>
          </a:xfrm>
          <a:prstGeom prst="rect">
            <a:avLst/>
          </a:prstGeom>
          <a:solidFill>
            <a:srgbClr val="C9D3D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E8EF89C-EA1D-5A0D-16BD-9DC1A535C7EA}"/>
              </a:ext>
            </a:extLst>
          </p:cNvPr>
          <p:cNvSpPr txBox="1"/>
          <p:nvPr/>
        </p:nvSpPr>
        <p:spPr>
          <a:xfrm>
            <a:off x="804672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un delito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DBEBD26-D40B-49B6-034D-C722A8C4F417}"/>
              </a:ext>
            </a:extLst>
          </p:cNvPr>
          <p:cNvSpPr txBox="1"/>
          <p:nvPr/>
        </p:nvSpPr>
        <p:spPr>
          <a:xfrm>
            <a:off x="804672" y="2697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universo real. Nadie lo observa.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F65C103-ED94-E35A-7293-EC87E6D67FB7}"/>
              </a:ext>
            </a:extLst>
          </p:cNvPr>
          <p:cNvSpPr txBox="1"/>
          <p:nvPr/>
        </p:nvSpPr>
        <p:spPr>
          <a:xfrm>
            <a:off x="4078224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1121646-4649-D3C5-ED45-00A00D558707}"/>
              </a:ext>
            </a:extLst>
          </p:cNvPr>
          <p:cNvSpPr/>
          <p:nvPr/>
        </p:nvSpPr>
        <p:spPr>
          <a:xfrm>
            <a:off x="4270248" y="1737360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4C91AED-2757-746D-BF25-31FC6D48CADF}"/>
              </a:ext>
            </a:extLst>
          </p:cNvPr>
          <p:cNvSpPr/>
          <p:nvPr/>
        </p:nvSpPr>
        <p:spPr>
          <a:xfrm>
            <a:off x="4270248" y="1737360"/>
            <a:ext cx="3502152" cy="82296"/>
          </a:xfrm>
          <a:prstGeom prst="rect">
            <a:avLst/>
          </a:prstGeom>
          <a:solidFill>
            <a:srgbClr val="5B8DB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D1C34DD-A2F6-A82F-4602-9CAE0E8B8F1E}"/>
              </a:ext>
            </a:extLst>
          </p:cNvPr>
          <p:cNvSpPr txBox="1"/>
          <p:nvPr/>
        </p:nvSpPr>
        <p:spPr>
          <a:xfrm>
            <a:off x="452628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víctima decide denunciar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8D04A38-20E3-DBA4-E2BC-08D55E055BED}"/>
              </a:ext>
            </a:extLst>
          </p:cNvPr>
          <p:cNvSpPr txBox="1"/>
          <p:nvPr/>
        </p:nvSpPr>
        <p:spPr>
          <a:xfrm>
            <a:off x="4526280" y="2697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la confianza, del tiempo, de la distancia a la agencia, de si vale la pena.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41215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50578-1AD8-B3B8-3012-E9F2C724F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FF36EB-993A-CE25-56E0-C346C7BE79FD}"/>
              </a:ext>
            </a:extLst>
          </p:cNvPr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6E0032-81B6-0A2E-7B82-072B478D5A69}"/>
              </a:ext>
            </a:extLst>
          </p:cNvPr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8305D2-7626-80BC-20CF-9ACBF08D9E17}"/>
              </a:ext>
            </a:extLst>
          </p:cNvPr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Pero ese mapa no cuenta delitos: cuenta denuncias registradas</a:t>
            </a:r>
            <a:endParaRPr lang="en-US" sz="2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D3A41-2B3E-D5F9-9FC4-3E6AD6C8378B}"/>
              </a:ext>
            </a:extLst>
          </p:cNvPr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hecho y el dato hay dos filtros, y ninguno es neutral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01E3C53-B6FC-A436-B628-409000C3EFB8}"/>
              </a:ext>
            </a:extLst>
          </p:cNvPr>
          <p:cNvSpPr/>
          <p:nvPr/>
        </p:nvSpPr>
        <p:spPr>
          <a:xfrm>
            <a:off x="548640" y="1737360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AEFDF00-2451-ABE6-841D-DC18AF7A4B4D}"/>
              </a:ext>
            </a:extLst>
          </p:cNvPr>
          <p:cNvSpPr/>
          <p:nvPr/>
        </p:nvSpPr>
        <p:spPr>
          <a:xfrm>
            <a:off x="548640" y="1737360"/>
            <a:ext cx="3502152" cy="82296"/>
          </a:xfrm>
          <a:prstGeom prst="rect">
            <a:avLst/>
          </a:prstGeom>
          <a:solidFill>
            <a:srgbClr val="C9D3D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FD9EFA1-3DBA-FD28-B0E4-CD6DC16B6B34}"/>
              </a:ext>
            </a:extLst>
          </p:cNvPr>
          <p:cNvSpPr txBox="1"/>
          <p:nvPr/>
        </p:nvSpPr>
        <p:spPr>
          <a:xfrm>
            <a:off x="804672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un delito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D5B1C2-2109-FDCE-A8A0-0C7760F59AED}"/>
              </a:ext>
            </a:extLst>
          </p:cNvPr>
          <p:cNvSpPr txBox="1"/>
          <p:nvPr/>
        </p:nvSpPr>
        <p:spPr>
          <a:xfrm>
            <a:off x="804672" y="2697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universo real. Nadie lo observa.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A734397-6167-8654-69B0-3CF15AA9FD54}"/>
              </a:ext>
            </a:extLst>
          </p:cNvPr>
          <p:cNvSpPr txBox="1"/>
          <p:nvPr/>
        </p:nvSpPr>
        <p:spPr>
          <a:xfrm>
            <a:off x="4078224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AAE00B8-70D9-2E41-0D48-447FBF8AC4FA}"/>
              </a:ext>
            </a:extLst>
          </p:cNvPr>
          <p:cNvSpPr/>
          <p:nvPr/>
        </p:nvSpPr>
        <p:spPr>
          <a:xfrm>
            <a:off x="4270248" y="1737360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B30F490-5D5A-3B1A-8D99-F200C7FEA4BD}"/>
              </a:ext>
            </a:extLst>
          </p:cNvPr>
          <p:cNvSpPr/>
          <p:nvPr/>
        </p:nvSpPr>
        <p:spPr>
          <a:xfrm>
            <a:off x="4270248" y="1737360"/>
            <a:ext cx="3502152" cy="82296"/>
          </a:xfrm>
          <a:prstGeom prst="rect">
            <a:avLst/>
          </a:prstGeom>
          <a:solidFill>
            <a:srgbClr val="5B8DB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2A89259-FA68-3CB6-D384-2C61FF070C46}"/>
              </a:ext>
            </a:extLst>
          </p:cNvPr>
          <p:cNvSpPr txBox="1"/>
          <p:nvPr/>
        </p:nvSpPr>
        <p:spPr>
          <a:xfrm>
            <a:off x="452628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víctima decide denunciar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C3D62AD-E295-7C4E-FFFF-CADFF671901A}"/>
              </a:ext>
            </a:extLst>
          </p:cNvPr>
          <p:cNvSpPr txBox="1"/>
          <p:nvPr/>
        </p:nvSpPr>
        <p:spPr>
          <a:xfrm>
            <a:off x="4526280" y="2697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la confianza, del tiempo, de la distancia a la agencia, de si vale la pena.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82E94E9-6A68-A2B6-49FD-1C0ABD9E08E2}"/>
              </a:ext>
            </a:extLst>
          </p:cNvPr>
          <p:cNvSpPr txBox="1"/>
          <p:nvPr/>
        </p:nvSpPr>
        <p:spPr>
          <a:xfrm>
            <a:off x="7799832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2B095B1-73EF-FCFB-ACA6-8BBDB6C442DC}"/>
              </a:ext>
            </a:extLst>
          </p:cNvPr>
          <p:cNvSpPr/>
          <p:nvPr/>
        </p:nvSpPr>
        <p:spPr>
          <a:xfrm>
            <a:off x="7991856" y="1737360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40067F2-0EF2-D0E7-D4C3-2510E402A3DE}"/>
              </a:ext>
            </a:extLst>
          </p:cNvPr>
          <p:cNvSpPr/>
          <p:nvPr/>
        </p:nvSpPr>
        <p:spPr>
          <a:xfrm>
            <a:off x="7991856" y="1737360"/>
            <a:ext cx="3502152" cy="82296"/>
          </a:xfrm>
          <a:prstGeom prst="rect">
            <a:avLst/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C2EF001-54C2-4862-1DBC-F11E391DBEA9}"/>
              </a:ext>
            </a:extLst>
          </p:cNvPr>
          <p:cNvSpPr txBox="1"/>
          <p:nvPr/>
        </p:nvSpPr>
        <p:spPr>
          <a:xfrm>
            <a:off x="8247888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MP decide abrir carpeta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5C1A550-B93C-D02E-2162-D6E72DDFB517}"/>
              </a:ext>
            </a:extLst>
          </p:cNvPr>
          <p:cNvSpPr txBox="1"/>
          <p:nvPr/>
        </p:nvSpPr>
        <p:spPr>
          <a:xfrm>
            <a:off x="8247888" y="2697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Nacional de Procedimientos Penales lo obliga a recibir toda denuncia e investigar sin mayores requisitos.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5612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69D9A-A74D-1042-E04C-F3D73F2A6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1CB6B6-6E30-927D-A8CE-48C83261FD7F}"/>
              </a:ext>
            </a:extLst>
          </p:cNvPr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795C01-4A7B-76DF-C22C-2102DD416617}"/>
              </a:ext>
            </a:extLst>
          </p:cNvPr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6D6FDF-BC33-EDBF-78ED-A5939A25FB98}"/>
              </a:ext>
            </a:extLst>
          </p:cNvPr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Pero ese mapa no cuenta delitos: cuenta denuncias registradas</a:t>
            </a:r>
            <a:endParaRPr lang="en-US" sz="2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EB83E8-3FBC-9C2D-2BA2-8951CF09AD09}"/>
              </a:ext>
            </a:extLst>
          </p:cNvPr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hecho y el dato hay dos filtros, y ninguno es neutral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0DAF47E-12F6-0539-7E7F-0AC7AD9964DC}"/>
              </a:ext>
            </a:extLst>
          </p:cNvPr>
          <p:cNvSpPr/>
          <p:nvPr/>
        </p:nvSpPr>
        <p:spPr>
          <a:xfrm>
            <a:off x="548640" y="1737360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F92491E-4D40-F7F5-1377-FACEE5CB3BCA}"/>
              </a:ext>
            </a:extLst>
          </p:cNvPr>
          <p:cNvSpPr/>
          <p:nvPr/>
        </p:nvSpPr>
        <p:spPr>
          <a:xfrm>
            <a:off x="548640" y="1737360"/>
            <a:ext cx="3502152" cy="82296"/>
          </a:xfrm>
          <a:prstGeom prst="rect">
            <a:avLst/>
          </a:prstGeom>
          <a:solidFill>
            <a:srgbClr val="C9D3D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067F4AF-81B8-D5B7-10F8-03B98AB6A3DE}"/>
              </a:ext>
            </a:extLst>
          </p:cNvPr>
          <p:cNvSpPr txBox="1"/>
          <p:nvPr/>
        </p:nvSpPr>
        <p:spPr>
          <a:xfrm>
            <a:off x="804672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un delito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C10A4C4-36B6-6814-D389-6F07CE31C02E}"/>
              </a:ext>
            </a:extLst>
          </p:cNvPr>
          <p:cNvSpPr txBox="1"/>
          <p:nvPr/>
        </p:nvSpPr>
        <p:spPr>
          <a:xfrm>
            <a:off x="804672" y="2697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universo real. Nadie lo observa.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FD99579-0020-1B88-29B3-3A880EED9D53}"/>
              </a:ext>
            </a:extLst>
          </p:cNvPr>
          <p:cNvSpPr txBox="1"/>
          <p:nvPr/>
        </p:nvSpPr>
        <p:spPr>
          <a:xfrm>
            <a:off x="4078224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C8092BC-F45B-66D0-55FE-02BF15E8348A}"/>
              </a:ext>
            </a:extLst>
          </p:cNvPr>
          <p:cNvSpPr/>
          <p:nvPr/>
        </p:nvSpPr>
        <p:spPr>
          <a:xfrm>
            <a:off x="4270248" y="1737360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31EE922-F4B1-67BA-D08C-930C31356FA0}"/>
              </a:ext>
            </a:extLst>
          </p:cNvPr>
          <p:cNvSpPr/>
          <p:nvPr/>
        </p:nvSpPr>
        <p:spPr>
          <a:xfrm>
            <a:off x="4270248" y="1737360"/>
            <a:ext cx="3502152" cy="82296"/>
          </a:xfrm>
          <a:prstGeom prst="rect">
            <a:avLst/>
          </a:prstGeom>
          <a:solidFill>
            <a:srgbClr val="5B8DB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2CC1FFB-965B-8346-9AAD-2321C1F9837E}"/>
              </a:ext>
            </a:extLst>
          </p:cNvPr>
          <p:cNvSpPr txBox="1"/>
          <p:nvPr/>
        </p:nvSpPr>
        <p:spPr>
          <a:xfrm>
            <a:off x="452628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víctima decide denunciar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AE8084F-E854-5390-D95B-A2FAACE50C04}"/>
              </a:ext>
            </a:extLst>
          </p:cNvPr>
          <p:cNvSpPr txBox="1"/>
          <p:nvPr/>
        </p:nvSpPr>
        <p:spPr>
          <a:xfrm>
            <a:off x="4526280" y="2697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la confianza, del tiempo, de la distancia a la agencia, de si vale la pena.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407BEE2-DCFF-0D77-40A2-DEB3984D8304}"/>
              </a:ext>
            </a:extLst>
          </p:cNvPr>
          <p:cNvSpPr txBox="1"/>
          <p:nvPr/>
        </p:nvSpPr>
        <p:spPr>
          <a:xfrm>
            <a:off x="7799832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F1F1DEB-B74E-04C9-3B0A-9C9B7C4A855D}"/>
              </a:ext>
            </a:extLst>
          </p:cNvPr>
          <p:cNvSpPr/>
          <p:nvPr/>
        </p:nvSpPr>
        <p:spPr>
          <a:xfrm>
            <a:off x="7991856" y="1737360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038BB24-E667-587F-F019-2060FDA6390E}"/>
              </a:ext>
            </a:extLst>
          </p:cNvPr>
          <p:cNvSpPr/>
          <p:nvPr/>
        </p:nvSpPr>
        <p:spPr>
          <a:xfrm>
            <a:off x="7991856" y="1737360"/>
            <a:ext cx="3502152" cy="82296"/>
          </a:xfrm>
          <a:prstGeom prst="rect">
            <a:avLst/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4640D7D-E90E-9297-C313-B9E2837AFAD4}"/>
              </a:ext>
            </a:extLst>
          </p:cNvPr>
          <p:cNvSpPr txBox="1"/>
          <p:nvPr/>
        </p:nvSpPr>
        <p:spPr>
          <a:xfrm>
            <a:off x="8247888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MP decide abrir carpeta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9CD601E-B147-0143-3DCF-2715AA5B094B}"/>
              </a:ext>
            </a:extLst>
          </p:cNvPr>
          <p:cNvSpPr txBox="1"/>
          <p:nvPr/>
        </p:nvSpPr>
        <p:spPr>
          <a:xfrm>
            <a:off x="8247888" y="2697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Nacional de Procedimientos Penales lo obliga a recibir toda denuncia e investigar sin mayores requisitos.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5173EE9-D087-5231-008E-740D19BCADBF}"/>
              </a:ext>
            </a:extLst>
          </p:cNvPr>
          <p:cNvSpPr/>
          <p:nvPr/>
        </p:nvSpPr>
        <p:spPr>
          <a:xfrm>
            <a:off x="548640" y="4434840"/>
            <a:ext cx="11064240" cy="1371600"/>
          </a:xfrm>
          <a:prstGeom prst="roundRect">
            <a:avLst>
              <a:gd name="adj" fmla="val 2667"/>
            </a:avLst>
          </a:prstGeom>
          <a:solidFill>
            <a:srgbClr val="FFF3F1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ADA5BEA-DACD-0C11-1C64-277A34DB8A1D}"/>
              </a:ext>
            </a:extLst>
          </p:cNvPr>
          <p:cNvSpPr txBox="1"/>
          <p:nvPr/>
        </p:nvSpPr>
        <p:spPr>
          <a:xfrm>
            <a:off x="868680" y="4590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 este trabajo</a:t>
            </a:r>
            <a:endParaRPr lang="en-US" sz="12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078F975-5861-56F6-F431-C515A3876243}"/>
              </a:ext>
            </a:extLst>
          </p:cNvPr>
          <p:cNvSpPr txBox="1"/>
          <p:nvPr/>
        </p:nvSpPr>
        <p:spPr>
          <a:xfrm>
            <a:off x="868680" y="491947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 de la desigualdad de ese mapa viene de que en unas alcaldías ocurre más delito, y cuánta de que en unas alcaldías el delito se denuncia y se registra más que en otras?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90479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medí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probabilidades, y la aportación está en separarlas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02152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804672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5B8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delitos,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se denuncian?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ciudadana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BCF39-6AA7-6D50-97AF-DEDA02D7B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F61B5A-2655-D361-032D-3EA459166B0E}"/>
              </a:ext>
            </a:extLst>
          </p:cNvPr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244FC0-AF74-759B-1BFE-E03ACA40AB21}"/>
              </a:ext>
            </a:extLst>
          </p:cNvPr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0BE461-164E-B433-3768-C817F4EACA0C}"/>
              </a:ext>
            </a:extLst>
          </p:cNvPr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medí</a:t>
            </a:r>
            <a:endParaRPr lang="en-US" sz="2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463302-7198-C407-5D61-8B4AC6760F7D}"/>
              </a:ext>
            </a:extLst>
          </p:cNvPr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probabilidades, y la aportación está en separarlas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75ECB95-5F27-9CA0-B94E-1D03A34D8A26}"/>
              </a:ext>
            </a:extLst>
          </p:cNvPr>
          <p:cNvSpPr/>
          <p:nvPr/>
        </p:nvSpPr>
        <p:spPr>
          <a:xfrm>
            <a:off x="548640" y="1691640"/>
            <a:ext cx="3502152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1C0B957-A3B2-FD61-80DF-0198ACDE9951}"/>
              </a:ext>
            </a:extLst>
          </p:cNvPr>
          <p:cNvSpPr txBox="1"/>
          <p:nvPr/>
        </p:nvSpPr>
        <p:spPr>
          <a:xfrm>
            <a:off x="804672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5B8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B960E18-E752-B291-8A87-A1191798FEC1}"/>
              </a:ext>
            </a:extLst>
          </p:cNvPr>
          <p:cNvSpPr txBox="1"/>
          <p:nvPr/>
        </p:nvSpPr>
        <p:spPr>
          <a:xfrm>
            <a:off x="804672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delitos,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se denuncian?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6F5002-FEF4-2B84-FA49-7AC1FC8AB780}"/>
              </a:ext>
            </a:extLst>
          </p:cNvPr>
          <p:cNvSpPr txBox="1"/>
          <p:nvPr/>
        </p:nvSpPr>
        <p:spPr>
          <a:xfrm>
            <a:off x="804672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ciudadana</a:t>
            </a:r>
            <a:endParaRPr lang="en-US"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4921480-E8D5-30BD-CED3-5CFFE919B60C}"/>
              </a:ext>
            </a:extLst>
          </p:cNvPr>
          <p:cNvSpPr/>
          <p:nvPr/>
        </p:nvSpPr>
        <p:spPr>
          <a:xfrm>
            <a:off x="4270248" y="1691640"/>
            <a:ext cx="3502152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3351951-0ED5-61C0-E127-97716FC546BD}"/>
              </a:ext>
            </a:extLst>
          </p:cNvPr>
          <p:cNvSpPr txBox="1"/>
          <p:nvPr/>
        </p:nvSpPr>
        <p:spPr>
          <a:xfrm>
            <a:off x="4526280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0B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906AD29-D6F5-81B2-2921-BDC002ADC874}"/>
              </a:ext>
            </a:extLst>
          </p:cNvPr>
          <p:cNvSpPr txBox="1"/>
          <p:nvPr/>
        </p:nvSpPr>
        <p:spPr>
          <a:xfrm>
            <a:off x="4526280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denuncias,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llegan a carpeta?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76242D8-4665-A12F-9ED7-2EC043A18822}"/>
              </a:ext>
            </a:extLst>
          </p:cNvPr>
          <p:cNvSpPr txBox="1"/>
          <p:nvPr/>
        </p:nvSpPr>
        <p:spPr>
          <a:xfrm>
            <a:off x="452628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institucional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205315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61A592-6B3E-95A5-B82F-3000FE9C4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2BD917-5F02-6CFA-3273-1A4EB2FC5A63}"/>
              </a:ext>
            </a:extLst>
          </p:cNvPr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FD99F8-0E82-0C6F-C51D-1BDAE56B05F5}"/>
              </a:ext>
            </a:extLst>
          </p:cNvPr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E042CBC-8AE2-DE2F-023C-E666E837D909}"/>
              </a:ext>
            </a:extLst>
          </p:cNvPr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medí</a:t>
            </a:r>
            <a:endParaRPr lang="en-US" sz="2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987879-32DE-E818-5A69-9792678B9ADF}"/>
              </a:ext>
            </a:extLst>
          </p:cNvPr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probabilidades, y la aportación está en separarlas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E66CA4F-35DF-BC3A-43B2-905D42FD94E6}"/>
              </a:ext>
            </a:extLst>
          </p:cNvPr>
          <p:cNvSpPr/>
          <p:nvPr/>
        </p:nvSpPr>
        <p:spPr>
          <a:xfrm>
            <a:off x="548640" y="1691640"/>
            <a:ext cx="3502152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A8D05B-5AED-4DDD-46AB-78E77E46ECD7}"/>
              </a:ext>
            </a:extLst>
          </p:cNvPr>
          <p:cNvSpPr txBox="1"/>
          <p:nvPr/>
        </p:nvSpPr>
        <p:spPr>
          <a:xfrm>
            <a:off x="804672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5B8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812625-C0C4-A8DE-40ED-EA4160F16616}"/>
              </a:ext>
            </a:extLst>
          </p:cNvPr>
          <p:cNvSpPr txBox="1"/>
          <p:nvPr/>
        </p:nvSpPr>
        <p:spPr>
          <a:xfrm>
            <a:off x="804672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delitos,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se denuncian?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01F58B5-9EF2-A91B-0028-1D88D72A43E1}"/>
              </a:ext>
            </a:extLst>
          </p:cNvPr>
          <p:cNvSpPr txBox="1"/>
          <p:nvPr/>
        </p:nvSpPr>
        <p:spPr>
          <a:xfrm>
            <a:off x="804672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ciudadana</a:t>
            </a:r>
            <a:endParaRPr lang="en-US"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B3D86D0-50E5-2850-9193-CECD689B982E}"/>
              </a:ext>
            </a:extLst>
          </p:cNvPr>
          <p:cNvSpPr/>
          <p:nvPr/>
        </p:nvSpPr>
        <p:spPr>
          <a:xfrm>
            <a:off x="4270248" y="1691640"/>
            <a:ext cx="3502152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D47D59C-E3A0-2B71-129A-990C2FE8E993}"/>
              </a:ext>
            </a:extLst>
          </p:cNvPr>
          <p:cNvSpPr txBox="1"/>
          <p:nvPr/>
        </p:nvSpPr>
        <p:spPr>
          <a:xfrm>
            <a:off x="4526280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0B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A3077D9-9215-D013-B4C0-73A6CB4B83E6}"/>
              </a:ext>
            </a:extLst>
          </p:cNvPr>
          <p:cNvSpPr txBox="1"/>
          <p:nvPr/>
        </p:nvSpPr>
        <p:spPr>
          <a:xfrm>
            <a:off x="4526280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denuncias,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llegan a carpeta?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E13B9E6-F90F-051D-9C6E-044541D4ADD7}"/>
              </a:ext>
            </a:extLst>
          </p:cNvPr>
          <p:cNvSpPr txBox="1"/>
          <p:nvPr/>
        </p:nvSpPr>
        <p:spPr>
          <a:xfrm>
            <a:off x="452628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institucional</a:t>
            </a:r>
            <a:endParaRPr lang="en-US" sz="12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5A44968-EA1C-E818-68B9-5C84660930AF}"/>
              </a:ext>
            </a:extLst>
          </p:cNvPr>
          <p:cNvSpPr/>
          <p:nvPr/>
        </p:nvSpPr>
        <p:spPr>
          <a:xfrm>
            <a:off x="7991856" y="1691640"/>
            <a:ext cx="3502152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27DD823-6435-6856-1C66-941C0B860225}"/>
              </a:ext>
            </a:extLst>
          </p:cNvPr>
          <p:cNvSpPr txBox="1"/>
          <p:nvPr/>
        </p:nvSpPr>
        <p:spPr>
          <a:xfrm>
            <a:off x="8247888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d · k</a:t>
            </a:r>
            <a:endParaRPr lang="en-US" sz="2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D951A6E-CE97-F9DB-2E2A-0A406F5B3870}"/>
              </a:ext>
            </a:extLst>
          </p:cNvPr>
          <p:cNvSpPr txBox="1"/>
          <p:nvPr/>
        </p:nvSpPr>
        <p:spPr>
          <a:xfrm>
            <a:off x="8247888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delitos,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quedan registrados?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2D75E6A-5051-FA8D-6620-EBDE78D9CEDB}"/>
              </a:ext>
            </a:extLst>
          </p:cNvPr>
          <p:cNvSpPr txBox="1"/>
          <p:nvPr/>
        </p:nvSpPr>
        <p:spPr>
          <a:xfrm>
            <a:off x="8247888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visibilidad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274566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03F5A-F856-A53A-6AC4-9CAADEEE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E46AA3-F70B-4DB1-41B5-A4E29534217A}"/>
              </a:ext>
            </a:extLst>
          </p:cNvPr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19E806-27B8-6259-82C2-A3DDB9CA5213}"/>
              </a:ext>
            </a:extLst>
          </p:cNvPr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D8387D-584D-1BD4-D7AD-31E4182D717C}"/>
              </a:ext>
            </a:extLst>
          </p:cNvPr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medí</a:t>
            </a:r>
            <a:endParaRPr lang="en-US" sz="2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985FC9-DF25-4679-63AE-508F0766244E}"/>
              </a:ext>
            </a:extLst>
          </p:cNvPr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probabilidades, y la aportación está en separarlas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112853D-5AE6-1979-BAB8-2EDA199DBF51}"/>
              </a:ext>
            </a:extLst>
          </p:cNvPr>
          <p:cNvSpPr/>
          <p:nvPr/>
        </p:nvSpPr>
        <p:spPr>
          <a:xfrm>
            <a:off x="548640" y="1691640"/>
            <a:ext cx="3502152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962AEFA-3726-15AE-707A-4C3AA3CE9374}"/>
              </a:ext>
            </a:extLst>
          </p:cNvPr>
          <p:cNvSpPr txBox="1"/>
          <p:nvPr/>
        </p:nvSpPr>
        <p:spPr>
          <a:xfrm>
            <a:off x="804672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5B8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E0946E6-5FE9-EDCB-0C66-02BDE3B92BD0}"/>
              </a:ext>
            </a:extLst>
          </p:cNvPr>
          <p:cNvSpPr txBox="1"/>
          <p:nvPr/>
        </p:nvSpPr>
        <p:spPr>
          <a:xfrm>
            <a:off x="804672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delitos,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se denuncian?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015516A-1665-015B-6177-95C342A38AC6}"/>
              </a:ext>
            </a:extLst>
          </p:cNvPr>
          <p:cNvSpPr txBox="1"/>
          <p:nvPr/>
        </p:nvSpPr>
        <p:spPr>
          <a:xfrm>
            <a:off x="804672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ciudadana</a:t>
            </a:r>
            <a:endParaRPr lang="en-US"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3740E66-0787-3D5C-81B5-98FC258B6C8A}"/>
              </a:ext>
            </a:extLst>
          </p:cNvPr>
          <p:cNvSpPr/>
          <p:nvPr/>
        </p:nvSpPr>
        <p:spPr>
          <a:xfrm>
            <a:off x="4270248" y="1691640"/>
            <a:ext cx="3502152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3AEEC84-04A8-D7F7-7A57-59077FADA7A1}"/>
              </a:ext>
            </a:extLst>
          </p:cNvPr>
          <p:cNvSpPr txBox="1"/>
          <p:nvPr/>
        </p:nvSpPr>
        <p:spPr>
          <a:xfrm>
            <a:off x="4526280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0B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64BCED1-0F4F-46D8-EA84-BC5725869B39}"/>
              </a:ext>
            </a:extLst>
          </p:cNvPr>
          <p:cNvSpPr txBox="1"/>
          <p:nvPr/>
        </p:nvSpPr>
        <p:spPr>
          <a:xfrm>
            <a:off x="4526280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denuncias,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llegan a carpeta?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80D4F9E-701A-6357-6390-8DD0FD9737D6}"/>
              </a:ext>
            </a:extLst>
          </p:cNvPr>
          <p:cNvSpPr txBox="1"/>
          <p:nvPr/>
        </p:nvSpPr>
        <p:spPr>
          <a:xfrm>
            <a:off x="452628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institucional</a:t>
            </a:r>
            <a:endParaRPr lang="en-US" sz="12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AC2A629-307A-8782-E59C-9D9B95494F86}"/>
              </a:ext>
            </a:extLst>
          </p:cNvPr>
          <p:cNvSpPr/>
          <p:nvPr/>
        </p:nvSpPr>
        <p:spPr>
          <a:xfrm>
            <a:off x="7991856" y="1691640"/>
            <a:ext cx="3502152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FAE0B61-8E5A-5000-9D16-BC6EE0E6489F}"/>
              </a:ext>
            </a:extLst>
          </p:cNvPr>
          <p:cNvSpPr txBox="1"/>
          <p:nvPr/>
        </p:nvSpPr>
        <p:spPr>
          <a:xfrm>
            <a:off x="8247888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d · k</a:t>
            </a:r>
            <a:endParaRPr lang="en-US" sz="2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1ED44D2-96C5-5B6D-67D8-35B257D4D628}"/>
              </a:ext>
            </a:extLst>
          </p:cNvPr>
          <p:cNvSpPr txBox="1"/>
          <p:nvPr/>
        </p:nvSpPr>
        <p:spPr>
          <a:xfrm>
            <a:off x="8247888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delitos,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quedan registrados?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C780FAC-0E95-A140-0DF6-6FF7944450CD}"/>
              </a:ext>
            </a:extLst>
          </p:cNvPr>
          <p:cNvSpPr txBox="1"/>
          <p:nvPr/>
        </p:nvSpPr>
        <p:spPr>
          <a:xfrm>
            <a:off x="8247888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visibilidad</a:t>
            </a:r>
            <a:endParaRPr lang="en-US" sz="12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99367AB-38E2-2E76-1A69-D7235645DD2D}"/>
              </a:ext>
            </a:extLst>
          </p:cNvPr>
          <p:cNvSpPr/>
          <p:nvPr/>
        </p:nvSpPr>
        <p:spPr>
          <a:xfrm>
            <a:off x="548640" y="4480560"/>
            <a:ext cx="11064240" cy="1325880"/>
          </a:xfrm>
          <a:prstGeom prst="roundRect">
            <a:avLst>
              <a:gd name="adj" fmla="val 2759"/>
            </a:avLst>
          </a:prstGeom>
          <a:solidFill>
            <a:srgbClr val="E7EEEE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8D6C7EA-C62B-FD11-19AB-859B497E7DEC}"/>
              </a:ext>
            </a:extLst>
          </p:cNvPr>
          <p:cNvSpPr txBox="1"/>
          <p:nvPr/>
        </p:nvSpPr>
        <p:spPr>
          <a:xfrm>
            <a:off x="868680" y="46268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separarlas es la aportación</a:t>
            </a:r>
            <a:endParaRPr lang="en-US" sz="12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71A12F9-F926-A7E4-96B0-D35D37BC3FE1}"/>
              </a:ext>
            </a:extLst>
          </p:cNvPr>
          <p:cNvSpPr txBox="1"/>
          <p:nvPr/>
        </p:nvSpPr>
        <p:spPr>
          <a:xfrm>
            <a:off x="868680" y="49560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Inglaterra, donde se hizo el estudio equivalente, denunciar y quedar registrado son casi el mismo evento. En México no: la ley obliga al ministerio público a abrir la carpeta, así que un valor de k por debajo de uno es medible y tiene consecuencias distintas a las de d.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30354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medí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replicado del INEGI, sobre fuentes públicas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777240" y="1719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ENVIPE 2021–2025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190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186,329 incidentes. Pregunta a la víctima si denunció y si se abrió carpeta.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E2B87-B324-C320-0D59-09BFC10D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FA75C0-BB96-3E12-CEBE-21C53BCC7D97}"/>
              </a:ext>
            </a:extLst>
          </p:cNvPr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32B34B-0F4E-7514-68FD-AAFA7A82B7A7}"/>
              </a:ext>
            </a:extLst>
          </p:cNvPr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86CA53-1CBC-4E4D-AA79-0B406476A5D1}"/>
              </a:ext>
            </a:extLst>
          </p:cNvPr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medí</a:t>
            </a:r>
            <a:endParaRPr lang="en-US" sz="2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5A6DEE-BAAC-471A-D014-663EEC25DFCD}"/>
              </a:ext>
            </a:extLst>
          </p:cNvPr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replicado del INEGI, sobre fuentes públicas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F7CB4A3-0576-4827-DB52-94AB505D5155}"/>
              </a:ext>
            </a:extLst>
          </p:cNvPr>
          <p:cNvSpPr/>
          <p:nvPr/>
        </p:nvSpPr>
        <p:spPr>
          <a:xfrm>
            <a:off x="548640" y="1627632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19EE0C-65F9-0C29-6E2B-D146755C6969}"/>
              </a:ext>
            </a:extLst>
          </p:cNvPr>
          <p:cNvSpPr txBox="1"/>
          <p:nvPr/>
        </p:nvSpPr>
        <p:spPr>
          <a:xfrm>
            <a:off x="777240" y="1719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ENVIPE 2021–2025</a:t>
            </a: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3A3E870-F22F-ACD7-FEE4-CA8B9DE3F938}"/>
              </a:ext>
            </a:extLst>
          </p:cNvPr>
          <p:cNvSpPr txBox="1"/>
          <p:nvPr/>
        </p:nvSpPr>
        <p:spPr>
          <a:xfrm>
            <a:off x="2743200" y="17190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186,329 incidentes. Pregunta a la víctima si denunció y si se abrió carpeta.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3694567-77F0-7CD5-A478-DAA56426B4AE}"/>
              </a:ext>
            </a:extLst>
          </p:cNvPr>
          <p:cNvSpPr/>
          <p:nvPr/>
        </p:nvSpPr>
        <p:spPr>
          <a:xfrm>
            <a:off x="548640" y="2478024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C3DD5DF-2D93-C1E4-BF32-307C8506FCCD}"/>
              </a:ext>
            </a:extLst>
          </p:cNvPr>
          <p:cNvSpPr txBox="1"/>
          <p:nvPr/>
        </p:nvSpPr>
        <p:spPr>
          <a:xfrm>
            <a:off x="777240" y="2569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Fiscalía CDMX</a:t>
            </a:r>
            <a:endParaRPr lang="en-US" sz="12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0255F41-492F-1EAA-6E1C-DA64D8DFE22A}"/>
              </a:ext>
            </a:extLst>
          </p:cNvPr>
          <p:cNvSpPr txBox="1"/>
          <p:nvPr/>
        </p:nvSpPr>
        <p:spPr>
          <a:xfrm>
            <a:off x="2743200" y="25694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millones de carpetas, 2016–2025. Numerador del mapa y rezago de registro.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20581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D322F-3D8F-7DC5-56CD-D0316AB5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CF7955-4566-94F6-4E0F-F49FEF5B0A1B}"/>
              </a:ext>
            </a:extLst>
          </p:cNvPr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5537FB-EC8F-1FE0-A628-1AF4AD27092F}"/>
              </a:ext>
            </a:extLst>
          </p:cNvPr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C07AEE-4861-9F72-2DE7-F59563A794B0}"/>
              </a:ext>
            </a:extLst>
          </p:cNvPr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medí</a:t>
            </a:r>
            <a:endParaRPr lang="en-US" sz="2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E4BC4C-9A12-C954-4364-C9E48E0D5EE8}"/>
              </a:ext>
            </a:extLst>
          </p:cNvPr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replicado del INEGI, sobre fuentes públicas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F90A728-0C41-1548-7ACA-69B06E553A35}"/>
              </a:ext>
            </a:extLst>
          </p:cNvPr>
          <p:cNvSpPr/>
          <p:nvPr/>
        </p:nvSpPr>
        <p:spPr>
          <a:xfrm>
            <a:off x="548640" y="1627632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7EBD89-B71C-292A-8D3E-860A0746DBD5}"/>
              </a:ext>
            </a:extLst>
          </p:cNvPr>
          <p:cNvSpPr txBox="1"/>
          <p:nvPr/>
        </p:nvSpPr>
        <p:spPr>
          <a:xfrm>
            <a:off x="777240" y="1719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ENVIPE 2021–2025</a:t>
            </a: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32786D3-D157-21F4-C464-17AC86DE3980}"/>
              </a:ext>
            </a:extLst>
          </p:cNvPr>
          <p:cNvSpPr txBox="1"/>
          <p:nvPr/>
        </p:nvSpPr>
        <p:spPr>
          <a:xfrm>
            <a:off x="2743200" y="17190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186,329 incidentes. Pregunta a la víctima si denunció y si se abrió carpeta.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55036C0-4264-DF33-B094-63BAE1262A81}"/>
              </a:ext>
            </a:extLst>
          </p:cNvPr>
          <p:cNvSpPr/>
          <p:nvPr/>
        </p:nvSpPr>
        <p:spPr>
          <a:xfrm>
            <a:off x="548640" y="2478024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5971625-3988-FF4D-AA3D-51737F662FB3}"/>
              </a:ext>
            </a:extLst>
          </p:cNvPr>
          <p:cNvSpPr txBox="1"/>
          <p:nvPr/>
        </p:nvSpPr>
        <p:spPr>
          <a:xfrm>
            <a:off x="777240" y="2569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Fiscalía CDMX</a:t>
            </a:r>
            <a:endParaRPr lang="en-US" sz="12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5A316BC-BF0F-AE10-6595-7E691F20BD7C}"/>
              </a:ext>
            </a:extLst>
          </p:cNvPr>
          <p:cNvSpPr txBox="1"/>
          <p:nvPr/>
        </p:nvSpPr>
        <p:spPr>
          <a:xfrm>
            <a:off x="2743200" y="25694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millones de carpetas, 2016–2025. Numerador del mapa y rezago de registro.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B9E4AE0-5FB7-89C6-8654-164E6FC296F1}"/>
              </a:ext>
            </a:extLst>
          </p:cNvPr>
          <p:cNvSpPr/>
          <p:nvPr/>
        </p:nvSpPr>
        <p:spPr>
          <a:xfrm>
            <a:off x="548640" y="3328416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DA83FBD-45A0-F890-805D-FD2C87F91BC6}"/>
              </a:ext>
            </a:extLst>
          </p:cNvPr>
          <p:cNvSpPr txBox="1"/>
          <p:nvPr/>
        </p:nvSpPr>
        <p:spPr>
          <a:xfrm>
            <a:off x="777240" y="34198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y CONAPO</a:t>
            </a:r>
            <a:endParaRPr lang="en-US" sz="12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B993952-5A2E-6237-542B-CED74C1E5245}"/>
              </a:ext>
            </a:extLst>
          </p:cNvPr>
          <p:cNvSpPr txBox="1"/>
          <p:nvPr/>
        </p:nvSpPr>
        <p:spPr>
          <a:xfrm>
            <a:off x="2743200" y="34198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Denominadores y covariables por alcaldía.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694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5A298-D6BF-FCB0-3732-2682AB3FC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18F552-26DE-C726-2E03-674F53B4A5D3}"/>
              </a:ext>
            </a:extLst>
          </p:cNvPr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CCF707-41FE-9652-3C5B-9FED9648A90C}"/>
              </a:ext>
            </a:extLst>
          </p:cNvPr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3B349D-F985-417E-4EE0-C6D102D470A8}"/>
              </a:ext>
            </a:extLst>
          </p:cNvPr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medí</a:t>
            </a:r>
            <a:endParaRPr lang="en-US" sz="2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3EE469-A4CE-3440-56EC-B8503FF92452}"/>
              </a:ext>
            </a:extLst>
          </p:cNvPr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replicado del INEGI, sobre fuentes públicas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F7C1959-946C-D3EA-F2C0-9A32F2A3AFE3}"/>
              </a:ext>
            </a:extLst>
          </p:cNvPr>
          <p:cNvSpPr/>
          <p:nvPr/>
        </p:nvSpPr>
        <p:spPr>
          <a:xfrm>
            <a:off x="548640" y="1627632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E7699C3-8F5D-3EF8-01AA-E661111DDCEF}"/>
              </a:ext>
            </a:extLst>
          </p:cNvPr>
          <p:cNvSpPr txBox="1"/>
          <p:nvPr/>
        </p:nvSpPr>
        <p:spPr>
          <a:xfrm>
            <a:off x="777240" y="1719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ENVIPE 2021–2025</a:t>
            </a: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91C120-8EE3-06CA-413C-0EA8A0533BC7}"/>
              </a:ext>
            </a:extLst>
          </p:cNvPr>
          <p:cNvSpPr txBox="1"/>
          <p:nvPr/>
        </p:nvSpPr>
        <p:spPr>
          <a:xfrm>
            <a:off x="2743200" y="17190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186,329 incidentes. Pregunta a la víctima si denunció y si se abrió carpeta.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689ED2E-BA75-03EE-921B-01C850AB284B}"/>
              </a:ext>
            </a:extLst>
          </p:cNvPr>
          <p:cNvSpPr/>
          <p:nvPr/>
        </p:nvSpPr>
        <p:spPr>
          <a:xfrm>
            <a:off x="548640" y="2478024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7998F0-4112-109E-E090-4F1002FA3CFB}"/>
              </a:ext>
            </a:extLst>
          </p:cNvPr>
          <p:cNvSpPr txBox="1"/>
          <p:nvPr/>
        </p:nvSpPr>
        <p:spPr>
          <a:xfrm>
            <a:off x="777240" y="2569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Fiscalía CDMX</a:t>
            </a:r>
            <a:endParaRPr lang="en-US" sz="12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D65178-2DEB-06E0-C013-4AA454E920FB}"/>
              </a:ext>
            </a:extLst>
          </p:cNvPr>
          <p:cNvSpPr txBox="1"/>
          <p:nvPr/>
        </p:nvSpPr>
        <p:spPr>
          <a:xfrm>
            <a:off x="2743200" y="25694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millones de carpetas, 2016–2025. Numerador del mapa y rezago de registro.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AD26375-25DD-5FA8-FC87-A1C6550CE9B7}"/>
              </a:ext>
            </a:extLst>
          </p:cNvPr>
          <p:cNvSpPr/>
          <p:nvPr/>
        </p:nvSpPr>
        <p:spPr>
          <a:xfrm>
            <a:off x="548640" y="3328416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1948462-B763-ED52-2503-A7918F16B9EC}"/>
              </a:ext>
            </a:extLst>
          </p:cNvPr>
          <p:cNvSpPr txBox="1"/>
          <p:nvPr/>
        </p:nvSpPr>
        <p:spPr>
          <a:xfrm>
            <a:off x="777240" y="34198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y CONAPO</a:t>
            </a:r>
            <a:endParaRPr lang="en-US" sz="12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1F48B50-CB75-FA99-0EC8-AF0B862F68B8}"/>
              </a:ext>
            </a:extLst>
          </p:cNvPr>
          <p:cNvSpPr txBox="1"/>
          <p:nvPr/>
        </p:nvSpPr>
        <p:spPr>
          <a:xfrm>
            <a:off x="2743200" y="34198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Denominadores y covariables por alcaldía.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9FB5312-746A-F6E5-97E9-A6B437683ED2}"/>
              </a:ext>
            </a:extLst>
          </p:cNvPr>
          <p:cNvSpPr/>
          <p:nvPr/>
        </p:nvSpPr>
        <p:spPr>
          <a:xfrm>
            <a:off x="548640" y="4178808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A5C2114-807D-3CB0-66BB-E374D87AEE17}"/>
              </a:ext>
            </a:extLst>
          </p:cNvPr>
          <p:cNvSpPr txBox="1"/>
          <p:nvPr/>
        </p:nvSpPr>
        <p:spPr>
          <a:xfrm>
            <a:off x="777240" y="42702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A8F122F-95EA-886B-E3A9-17DF36B5F605}"/>
              </a:ext>
            </a:extLst>
          </p:cNvPr>
          <p:cNvSpPr txBox="1"/>
          <p:nvPr/>
        </p:nvSpPr>
        <p:spPr>
          <a:xfrm>
            <a:off x="2743200" y="42702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externo independiente.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87870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D9916-AFB5-E7CD-CFBB-22A0724B6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1955C8-DA0C-1245-66AA-7A4A625E1622}"/>
              </a:ext>
            </a:extLst>
          </p:cNvPr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FFEA77-AF14-E823-6861-796739066424}"/>
              </a:ext>
            </a:extLst>
          </p:cNvPr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5D117A-A10F-1FF7-E0B7-87ABB69EEB68}"/>
              </a:ext>
            </a:extLst>
          </p:cNvPr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medí</a:t>
            </a:r>
            <a:endParaRPr lang="en-US" sz="2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31599D0-278F-FA00-CD4B-BDE4210C3D4C}"/>
              </a:ext>
            </a:extLst>
          </p:cNvPr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replicado del INEGI, sobre fuentes públicas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C44A6BD-FD29-9CEF-BC03-C25EE7714F85}"/>
              </a:ext>
            </a:extLst>
          </p:cNvPr>
          <p:cNvSpPr/>
          <p:nvPr/>
        </p:nvSpPr>
        <p:spPr>
          <a:xfrm>
            <a:off x="548640" y="1627632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7723197-5159-5567-738C-BA3F386D0B07}"/>
              </a:ext>
            </a:extLst>
          </p:cNvPr>
          <p:cNvSpPr txBox="1"/>
          <p:nvPr/>
        </p:nvSpPr>
        <p:spPr>
          <a:xfrm>
            <a:off x="777240" y="1719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ENVIPE 2021–2025</a:t>
            </a: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EDB697-48CB-847A-A8A2-DEF2908190C1}"/>
              </a:ext>
            </a:extLst>
          </p:cNvPr>
          <p:cNvSpPr txBox="1"/>
          <p:nvPr/>
        </p:nvSpPr>
        <p:spPr>
          <a:xfrm>
            <a:off x="2743200" y="17190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186,329 incidentes. Pregunta a la víctima si denunció y si se abrió carpeta.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73882B5-E478-1B94-B994-2D6F51AB9033}"/>
              </a:ext>
            </a:extLst>
          </p:cNvPr>
          <p:cNvSpPr/>
          <p:nvPr/>
        </p:nvSpPr>
        <p:spPr>
          <a:xfrm>
            <a:off x="548640" y="2478024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3095382-ED9B-A10E-AAB9-B19FEFDB6F46}"/>
              </a:ext>
            </a:extLst>
          </p:cNvPr>
          <p:cNvSpPr txBox="1"/>
          <p:nvPr/>
        </p:nvSpPr>
        <p:spPr>
          <a:xfrm>
            <a:off x="777240" y="2569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Fiscalía CDMX</a:t>
            </a:r>
            <a:endParaRPr lang="en-US" sz="12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DCEC44C-FD6B-E401-A9F3-975AAC6BA5A5}"/>
              </a:ext>
            </a:extLst>
          </p:cNvPr>
          <p:cNvSpPr txBox="1"/>
          <p:nvPr/>
        </p:nvSpPr>
        <p:spPr>
          <a:xfrm>
            <a:off x="2743200" y="25694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millones de carpetas, 2016–2025. Numerador del mapa y rezago de registro.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247C360-8B08-EA29-28A6-AB9112104DC8}"/>
              </a:ext>
            </a:extLst>
          </p:cNvPr>
          <p:cNvSpPr/>
          <p:nvPr/>
        </p:nvSpPr>
        <p:spPr>
          <a:xfrm>
            <a:off x="548640" y="3328416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701C7D-D3B4-37F3-421C-7E5A9EAADCF0}"/>
              </a:ext>
            </a:extLst>
          </p:cNvPr>
          <p:cNvSpPr txBox="1"/>
          <p:nvPr/>
        </p:nvSpPr>
        <p:spPr>
          <a:xfrm>
            <a:off x="777240" y="34198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y CONAPO</a:t>
            </a:r>
            <a:endParaRPr lang="en-US" sz="12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6EE7E65-7D3E-C98D-B71F-025B5C68CC1B}"/>
              </a:ext>
            </a:extLst>
          </p:cNvPr>
          <p:cNvSpPr txBox="1"/>
          <p:nvPr/>
        </p:nvSpPr>
        <p:spPr>
          <a:xfrm>
            <a:off x="2743200" y="34198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Denominadores y covariables por alcaldía.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1CEBA33-FBE0-C995-227F-09315795F56D}"/>
              </a:ext>
            </a:extLst>
          </p:cNvPr>
          <p:cNvSpPr/>
          <p:nvPr/>
        </p:nvSpPr>
        <p:spPr>
          <a:xfrm>
            <a:off x="548640" y="4178808"/>
            <a:ext cx="58521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783B156-7212-074A-8994-D4C5D637F3F3}"/>
              </a:ext>
            </a:extLst>
          </p:cNvPr>
          <p:cNvSpPr txBox="1"/>
          <p:nvPr/>
        </p:nvSpPr>
        <p:spPr>
          <a:xfrm>
            <a:off x="777240" y="42702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374BAC9-53E1-EF59-96E2-358C3997B5EB}"/>
              </a:ext>
            </a:extLst>
          </p:cNvPr>
          <p:cNvSpPr txBox="1"/>
          <p:nvPr/>
        </p:nvSpPr>
        <p:spPr>
          <a:xfrm>
            <a:off x="2743200" y="42702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externo independiente.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8E68663-E9FD-9799-1908-2267392A4934}"/>
              </a:ext>
            </a:extLst>
          </p:cNvPr>
          <p:cNvSpPr/>
          <p:nvPr/>
        </p:nvSpPr>
        <p:spPr>
          <a:xfrm>
            <a:off x="6675120" y="1627632"/>
            <a:ext cx="4937760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C40DD9B-9DF0-C533-1AA3-109E00231CFE}"/>
              </a:ext>
            </a:extLst>
          </p:cNvPr>
          <p:cNvSpPr txBox="1"/>
          <p:nvPr/>
        </p:nvSpPr>
        <p:spPr>
          <a:xfrm>
            <a:off x="6949440" y="17830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4053EE5-0F18-2357-7F71-269B1920E066}"/>
              </a:ext>
            </a:extLst>
          </p:cNvPr>
          <p:cNvSpPr txBox="1"/>
          <p:nvPr/>
        </p:nvSpPr>
        <p:spPr>
          <a:xfrm>
            <a:off x="6949440" y="214884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encuesta no está diseñada para dar cifras por alcaldía: más de la mitad de las estimaciones directas son poco confiables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4202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en áreas pequeñas</a:t>
            </a: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combina la encuesta con covariables de censo y registro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modelos comparados; el elegido se ajusta para reproducir el total publicado de la ciudad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el protocolo que el propio INEGI publicó para los 2,469 municipios del país</a:t>
            </a:r>
            <a:endParaRPr lang="en-US" sz="11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D7CBC61-68C0-BD4D-DE11-64CDEA6F34B9}"/>
              </a:ext>
            </a:extLst>
          </p:cNvPr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E7EEEE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F08B045-74CE-1ADB-42F9-875D091BD815}"/>
              </a:ext>
            </a:extLst>
          </p:cNvPr>
          <p:cNvSpPr txBox="1"/>
          <p:nvPr/>
        </p:nvSpPr>
        <p:spPr>
          <a:xfrm>
            <a:off x="868680" y="51663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calidad: las estimaciones reproducen exactamente los cuadros publicados de la ENVIPE en los cinco levantamientos.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700053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resultado: el embudo de la ciudad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delitos que ocurren en la Ciudad de México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45920"/>
          <a:ext cx="6858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645920"/>
            <a:ext cx="393192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7882128" y="1792224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882128" y="237744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pierden porque la víctima no denuncia (barrera ciudadana)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0" y="3200400"/>
            <a:ext cx="393192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 txBox="1"/>
          <p:nvPr/>
        </p:nvSpPr>
        <p:spPr>
          <a:xfrm>
            <a:off x="7882128" y="3346704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cada 3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7882128" y="393192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denuncias presentadas no se convierte en carpeta, pese a la obligación legal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E7EEEE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 txBox="1"/>
          <p:nvPr/>
        </p:nvSpPr>
        <p:spPr>
          <a:xfrm>
            <a:off x="868680" y="51846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cifras son estables en los cinco años y coinciden con las nacionales que publica el INEGI, que para 2024 reporta 9.6% de denuncia y 70.5% de conversión en carpeta.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Segundo resultado: entre alcaldías, nada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Alcaldías que se distinguen del promedio de la ciudad, de 16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91640"/>
          <a:ext cx="6858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691640"/>
            <a:ext cx="3931920" cy="1828800"/>
          </a:xfrm>
          <a:prstGeom prst="roundRect">
            <a:avLst>
              <a:gd name="adj" fmla="val 2000"/>
            </a:avLst>
          </a:prstGeom>
          <a:solidFill>
            <a:srgbClr val="E7EEEE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7936992" y="18562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936992" y="21945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alcaldía tiene una probabilidad de registro distinguible del resto de la ciudad, en ninguno de los cinco años. En d, cuando mucho tres de dieciséis, y no las mismas cada año.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3657600"/>
            <a:ext cx="393192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 txBox="1"/>
          <p:nvPr/>
        </p:nvSpPr>
        <p:spPr>
          <a:xfrm>
            <a:off x="7882128" y="3803904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a 1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7882128" y="438912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que varía R entre alcaldías, contra 3.5 a 1 de la tasa de carpetas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FFF3F1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 txBox="1"/>
          <p:nvPr/>
        </p:nvSpPr>
        <p:spPr>
          <a:xfrm>
            <a:off x="868680" y="5212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R no guarda ninguna relación con el orden de la tasa de carpetas: correlación de 0.06.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si el método simplemente no podía verlo?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obligada ante un resultado negativo, contestada con simulación</a:t>
            </a:r>
            <a:endParaRPr lang="en-US" sz="1300" dirty="0"/>
          </a:p>
        </p:txBody>
      </p:sp>
      <p:pic>
        <p:nvPicPr>
          <p:cNvPr id="6" name="Image 0" descr="/home/claude/salidas/fig3_pot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39496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691640"/>
            <a:ext cx="5212080" cy="1920240"/>
          </a:xfrm>
          <a:prstGeom prst="roundRect">
            <a:avLst>
              <a:gd name="adj" fmla="val 1905"/>
            </a:avLst>
          </a:prstGeom>
          <a:solidFill>
            <a:srgbClr val="E7EEEE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6675120" y="18562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contesta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19456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fabrican datos donde sí hay diferencias entre alcaldías, con el mismo ruido que tiene la encuesta, y se revisa cuántas veces el método las encuentra.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0" y="3749040"/>
            <a:ext cx="521208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 txBox="1"/>
          <p:nvPr/>
        </p:nvSpPr>
        <p:spPr>
          <a:xfrm>
            <a:off x="6601968" y="3895344"/>
            <a:ext cx="4809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a 100 de cada 100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601968" y="4480560"/>
            <a:ext cx="4809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alcaldías difirieran tanto como difieren sus carpetas, el método lo habría detectado casi siempre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5303520"/>
            <a:ext cx="5212080" cy="548640"/>
          </a:xfrm>
          <a:prstGeom prst="roundRect">
            <a:avLst>
              <a:gd name="adj" fmla="val 6667"/>
            </a:avLst>
          </a:prstGeom>
          <a:solidFill>
            <a:srgbClr val="FFF3F1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 txBox="1"/>
          <p:nvPr/>
        </p:nvSpPr>
        <p:spPr>
          <a:xfrm>
            <a:off x="6675120" y="5376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 sí falta potencia, y se declara en el trabajo.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27278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de la prueba de varianza persistente entre alcaldías, por simulación, bajo el escenario conservador de orden aleatorio.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Tercer resultado: la variación está en el tipo de delito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se separa típicamente una categoría del promedio, en puntos porcentuales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37360"/>
          <a:ext cx="6858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737360"/>
            <a:ext cx="393192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7882128" y="1883664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veces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882128" y="246888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variación entre tipos de delito que entre alcaldías. Doce veces aun quitando el robo de vehículo.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0" y="3291840"/>
            <a:ext cx="393192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 txBox="1"/>
          <p:nvPr/>
        </p:nvSpPr>
        <p:spPr>
          <a:xfrm>
            <a:off x="7936992" y="34564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extremos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936992" y="37947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total de vehículo: 75 de cada 100 se denuncian, porque el seguro lo exige.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Hostigamiento o abuso sexual: 3 de cada 100.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5486400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E7EEEE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 txBox="1"/>
          <p:nvPr/>
        </p:nvSpPr>
        <p:spPr>
          <a:xfrm>
            <a:off x="868680" y="55595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visibilidad del delito depende de qué te pasó, no de dónde vives.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Entonces, ¿qué explica la desigualdad del mapa?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factores, y ninguno es la propensión a denunciar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68680" y="19476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86868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929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reales de incidencia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35000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victimización estimada por encuesta varía 2.3 a 1 entre alcaldías. Parte de la desigualdad del mapa es real.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106424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868680" y="386791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8C2F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86868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496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contado dónde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27024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carpetas se cuentan donde ocurre el hecho, pero la tasa se divide entre quienes viven ahí. En Cuauhtémoc, 58 de cada 100 víctimas viven en otra alcaldía; en Milpa Alta, 11.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E7EEEE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868680" y="560527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proporción de víctimas que viven en otra alcaldía correlaciona 0.71 con la distorsión de la tasa oficial.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0312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0574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2491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B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aplicación, en cinco minutos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El embudo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robo de vehículo contra robo en calle y ver cómo se transforma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462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¿Dónde o qué?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44622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paneles de dispersión y la evidencia de potencia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1755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Ficha de alcaldía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51755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Cuauhtémoc: lo que dice el mapa y lo que significa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debería cambiar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recomendaciones al tomador de decisiones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04672" y="18836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804672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82880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leer la tasa de carpetas como propensión a denunciar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campañas de denuncia focalizadas por alcaldía no tienen respaldo empírico en esta ciudad.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473952" y="18836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6473952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67728" y="182880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por tipo de delito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Hostigamiento, extorsión y fraudes se denuncian menos de 7 de cada 100 veces: son invisibles para el sistema.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39496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04672" y="3986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804672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39319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el conteo de denuncias recibidas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7091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es observable y hay que estimarlo por encuesta. Con ese dato, la barrera institucional se mide directamente.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749040"/>
            <a:ext cx="539496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473952" y="3986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6473952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67728" y="39319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las tasas por población de día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47091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denominador residente infla sistemáticamente a las alcaldías receptoras.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requiere levantar información nueva: todo se actualiza solo al publicarse cada ENVIPE.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548640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 afirmo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límites del trabajo, declarados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868680" y="1737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afirmo que la visibilidad sea idéntica entre alcaldías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Afirmo que no varía más de alrededor del doble, que es lo que los datos permiten acotar.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868680" y="28163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afirmo que la barrera institucional sea territorialmente homogénea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18211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 la muestra no alcanza para evaluarlo. El umbral detectable es de 26 puntos porcentuales.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85616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868680" y="38953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afirmo que una de cada tres denuncias incumpla la ley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2611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permite no iniciar investigación cuando es evidente que no hay delito. Es una cota superior.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64608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8D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868680" y="49743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2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afirmo causalidad, ni hablo de personas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34009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conclusiones son sobre unidades territoriales.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27278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Validación: reproducción de las cifras oficiales, control positivo, análisis de potencia, ruta administrativa alternativa y contraste con la ENSU.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B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este trabajo encontró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mapa del delito de la Ciudad de México no está deformado por dónde se denuncia.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cuello de botella es de etapa y de tipo de delito, no de territorio. De cada 100 delitos, 89 se pierden porque la víctima no denuncia y 4 más porque la denuncia no se registra.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1463040" cy="27432"/>
          </a:xfrm>
          <a:prstGeom prst="rect">
            <a:avLst/>
          </a:prstGeom>
          <a:solidFill>
            <a:srgbClr val="0B5D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822960" y="4892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resultado negativo, y está establecido con cuatro métodos, análisis de potencia, un control positivo y ajuste a la cifra oficial.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06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 Quedo a sus preguntas.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3290</Words>
  <Application>Microsoft Office PowerPoint</Application>
  <PresentationFormat>Panorámica</PresentationFormat>
  <Paragraphs>308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la denuncia a la carpeta</dc:title>
  <dc:subject>PptxGenJS Presentation</dc:subject>
  <dc:creator>Caso de titulación · Ciencia de Datos Aplicada · ITAM</dc:creator>
  <cp:lastModifiedBy>Mariana Arroyo Muñoz</cp:lastModifiedBy>
  <cp:revision>1</cp:revision>
  <dcterms:created xsi:type="dcterms:W3CDTF">2026-10-14T20:58:10Z</dcterms:created>
  <dcterms:modified xsi:type="dcterms:W3CDTF">2026-10-14T21:52:59Z</dcterms:modified>
</cp:coreProperties>
</file>